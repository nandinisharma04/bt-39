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8a667cc-8a86-b96a-2556-28ccf19ca7a5}">
          <p14:sldIdLst>
            <p14:sldId id="256"/>
            <p14:sldId id="257"/>
            <p14:sldId id="258"/>
          </p14:sldIdLst>
        </p14:section>
        <p14:section name="Our solution" id="{2b966935-3429-6f61-f9c4-70e15933b0ee}">
          <p14:sldIdLst>
            <p14:sldId id="259"/>
            <p14:sldId id="260"/>
            <p14:sldId id="261"/>
            <p14:sldId id="262"/>
          </p14:sldIdLst>
        </p14:section>
        <p14:section name="Research" id="{eb133d02-0e6f-6a27-2135-fc7f93c9ecd2}">
          <p14:sldIdLst>
            <p14:sldId id="263"/>
            <p14:sldId id="264"/>
            <p14:sldId id="265"/>
            <p14:sldId id="266"/>
          </p14:sldIdLst>
        </p14:section>
        <p14:section name="The product" id="{e4cd769c-9ec3-dc77-e586-67e5c1528a0e}">
          <p14:sldIdLst>
            <p14:sldId id="267"/>
            <p14:sldId id="268"/>
            <p14:sldId id="269"/>
            <p14:sldId id="270"/>
          </p14:sldIdLst>
        </p14:section>
        <p14:section name="Conclusion" id="{5c7ff1ac-0172-8500-db02-087233497e7e}">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False alarms per patient per day, last week</a:t>
            </a:r>
          </a:p>
        </c:rich>
      </c:tx>
      <c:layout/>
      <c:overlay val="0"/>
    </c:title>
    <c:autoTitleDeleted val="0"/>
    <c:plotArea>
      <c:layout/>
      <c:barChart>
        <c:barDir val="bar"/>
        <c:grouping val="clustered"/>
        <c:varyColors val="0"/>
        <c:ser>
          <c:idx val="0"/>
          <c:order val="0"/>
          <c:tx>
            <c:strRef>
              <c:f>Sheet1!$B$1</c:f>
              <c:strCache>
                <c:ptCount val="1"/>
                <c:pt idx="0">
                  <c:v>False alarms per patient per day (last week)</c:v>
                </c:pt>
              </c:strCache>
            </c:strRef>
          </c:tx>
          <c:spPr>
            <a:solidFill>
              <a:srgbClr val="4A4F6A"/>
            </a:solidFill>
            <a:effectLst/>
          </c:spPr>
          <c:invertIfNegative val="0"/>
          <c:dLbls>
            <c:numFmt formatCode="0.00" sourceLinked="0"/>
            <c:txPr>
              <a:bodyPr/>
              <a:lstStyle/>
              <a:p>
                <a:pPr>
                  <a:defRPr b="0" i="0" strike="noStrike" sz="1300" u="none">
                    <a:solidFill>
                      <a:srgbClr val="1B1F3B"/>
                    </a:solidFill>
                    <a:latin typeface="+mn-lt"/>
                  </a:defRPr>
                </a:pPr>
              </a:p>
            </c:txPr>
            <c:showLegendKey val="0"/>
            <c:showVal val="1"/>
            <c:showCatName val="0"/>
            <c:showSerName val="0"/>
            <c:showPercent val="0"/>
            <c:showBubbleSize val="0"/>
            <c:showLeaderLines val="0"/>
          </c:dLbls>
          <c:dPt>
            <c:idx val="0"/>
            <c:invertIfNegative val="0"/>
            <c:bubble3D val="0"/>
            <c:spPr>
              <a:solidFill>
                <a:srgbClr val="4A4F6A"/>
              </a:solidFill>
              <a:effectLst/>
            </c:spPr>
          </c:dPt>
          <c:dPt>
            <c:idx val="1"/>
            <c:invertIfNegative val="0"/>
            <c:bubble3D val="0"/>
            <c:spPr>
              <a:solidFill>
                <a:srgbClr val="1FA7BF"/>
              </a:solidFill>
              <a:effectLst/>
            </c:spPr>
          </c:dPt>
          <c:dPt>
            <c:idx val="2"/>
            <c:invertIfNegative val="0"/>
            <c:bubble3D val="0"/>
            <c:spPr>
              <a:solidFill>
                <a:srgbClr val="FF2D55"/>
              </a:solidFill>
              <a:effectLst/>
            </c:spPr>
          </c:dPt>
          <c:dPt>
            <c:idx val="3"/>
            <c:invertIfNegative val="0"/>
            <c:bubble3D val="0"/>
            <c:spPr>
              <a:solidFill>
                <a:srgbClr val="6B4CE6"/>
              </a:solidFill>
              <a:effectLst/>
            </c:spPr>
          </c:dPt>
          <c:dPt>
            <c:idx val="4"/>
            <c:invertIfNegative val="0"/>
            <c:bubble3D val="0"/>
            <c:spPr>
              <a:solidFill>
                <a:srgbClr val="1F9D55"/>
              </a:solidFill>
              <a:effectLst/>
            </c:spPr>
          </c:dPt>
          <c:cat>
            <c:multiLvlStrRef>
              <c:f>Sheet1!$A$2:$A$6</c:f>
              <c:multiLvlStrCache>
                <c:ptCount val="5"/>
                <c:lvl>
                  <c:pt idx="0">
                    <c:v>Fixed threshold</c:v>
                  </c:pt>
                  <c:pt idx="1">
                    <c:v>Personal normal</c:v>
                  </c:pt>
                  <c:pt idx="2">
                    <c:v>AdaptAlert</c:v>
                  </c:pt>
                  <c:pt idx="3">
                    <c:v>Unguarded (ablation)</c:v>
                  </c:pt>
                  <c:pt idx="4">
                    <c:v>AdaptAlert + federated</c:v>
                  </c:pt>
                </c:lvl>
              </c:multiLvlStrCache>
            </c:multiLvlStrRef>
          </c:cat>
          <c:val>
            <c:numRef>
              <c:f>Sheet1!$B$2:$B$6</c:f>
              <c:numCache>
                <c:formatCode>General</c:formatCode>
                <c:ptCount val="5"/>
                <c:pt idx="0">
                  <c:v>3.7</c:v>
                </c:pt>
                <c:pt idx="1">
                  <c:v>1.73</c:v>
                </c:pt>
                <c:pt idx="2">
                  <c:v>0.11</c:v>
                </c:pt>
                <c:pt idx="3">
                  <c:v>0.11</c:v>
                </c:pt>
                <c:pt idx="4">
                  <c:v>0.13</c:v>
                </c:pt>
              </c:numCache>
            </c:numRef>
          </c:val>
        </c:ser>
        <c:dLbls>
          <c:numFmt formatCode="0.00" sourceLinked="0"/>
          <c:txPr>
            <a:bodyPr/>
            <a:lstStyle/>
            <a:p>
              <a:pPr>
                <a:defRPr b="0" i="0" strike="noStrike" sz="1300" u="none">
                  <a:solidFill>
                    <a:srgbClr val="1B1F3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A4F6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Share of real alerts the patient wrongly dismissed</a:t>
            </a:r>
          </a:p>
        </c:rich>
      </c:tx>
      <c:layout/>
      <c:overlay val="0"/>
    </c:title>
    <c:autoTitleDeleted val="0"/>
    <c:plotArea>
      <c:layout/>
      <c:lineChart>
        <c:varyColors val="0"/>
        <c:ser>
          <c:idx val="0"/>
          <c:order val="0"/>
          <c:tx>
            <c:strRef>
              <c:f>Sheet1!$B$1</c:f>
              <c:strCache>
                <c:ptCount val="1"/>
                <c:pt idx="0">
                  <c:v>Sensitivity (AdaptAlert)</c:v>
                </c:pt>
              </c:strCache>
            </c:strRef>
          </c:tx>
          <c:spPr>
            <a:solidFill>
              <a:srgbClr val="6B4CE6"/>
            </a:solidFill>
            <a:ln w="38100" cap="flat">
              <a:solidFill>
                <a:srgbClr val="6B4CE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6B4CE6"/>
              </a:solidFill>
              <a:ln w="9525" cap="flat">
                <a:solidFill>
                  <a:srgbClr val="6B4CE6"/>
                </a:solidFill>
                <a:prstDash val="solid"/>
                <a:round/>
              </a:ln>
              <a:effectLst/>
            </c:spPr>
          </c:marker>
          <c:cat>
            <c:multiLvlStrRef>
              <c:f>Sheet1!$A$2:$A$6</c:f>
              <c:multiLvlStrCache>
                <c:ptCount val="5"/>
                <c:lvl>
                  <c:pt idx="0">
                    <c:v>0%</c:v>
                  </c:pt>
                  <c:pt idx="1">
                    <c:v>10%</c:v>
                  </c:pt>
                  <c:pt idx="2">
                    <c:v>20%</c:v>
                  </c:pt>
                  <c:pt idx="3">
                    <c:v>30%</c:v>
                  </c:pt>
                  <c:pt idx="4">
                    <c:v>50%</c:v>
                  </c:pt>
                </c:lvl>
              </c:multiLvlStrCache>
            </c:multiLvlStrRef>
          </c:cat>
          <c:val>
            <c:numRef>
              <c:f>Sheet1!$B$2:$B$6</c:f>
              <c:numCache>
                <c:formatCode>General</c:formatCode>
                <c:ptCount val="5"/>
                <c:pt idx="0">
                  <c:v>100</c:v>
                </c:pt>
                <c:pt idx="1">
                  <c:v>99</c:v>
                </c:pt>
                <c:pt idx="2">
                  <c:v>98.1</c:v>
                </c:pt>
                <c:pt idx="3">
                  <c:v>97.2</c:v>
                </c:pt>
                <c:pt idx="4">
                  <c:v>93.9</c:v>
                </c:pt>
              </c:numCache>
            </c:numRef>
          </c:val>
          <c:smooth val="0"/>
        </c:ser>
        <c:ser>
          <c:idx val="1"/>
          <c:order val="1"/>
          <c:tx>
            <c:strRef>
              <c:f>Sheet1!$C$1</c:f>
              <c:strCache>
                <c:ptCount val="1"/>
                <c:pt idx="0">
                  <c:v>Critical events caught (AdaptAlert)</c:v>
                </c:pt>
              </c:strCache>
            </c:strRef>
          </c:tx>
          <c:spPr>
            <a:solidFill>
              <a:srgbClr val="FF2D55"/>
            </a:solidFill>
            <a:ln w="38100" cap="flat">
              <a:solidFill>
                <a:srgbClr val="FF2D5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FF2D55"/>
              </a:solidFill>
              <a:ln w="9525" cap="flat">
                <a:solidFill>
                  <a:srgbClr val="FF2D55"/>
                </a:solidFill>
                <a:prstDash val="solid"/>
                <a:round/>
              </a:ln>
              <a:effectLst/>
            </c:spPr>
          </c:marker>
          <c:cat>
            <c:multiLvlStrRef>
              <c:f>Sheet1!$A$2:$A$6</c:f>
              <c:multiLvlStrCache>
                <c:ptCount val="5"/>
                <c:lvl>
                  <c:pt idx="0">
                    <c:v>0%</c:v>
                  </c:pt>
                  <c:pt idx="1">
                    <c:v>10%</c:v>
                  </c:pt>
                  <c:pt idx="2">
                    <c:v>20%</c:v>
                  </c:pt>
                  <c:pt idx="3">
                    <c:v>30%</c:v>
                  </c:pt>
                  <c:pt idx="4">
                    <c:v>50%</c:v>
                  </c:pt>
                </c:lvl>
              </c:multiLvlStrCache>
            </c:multiLvlStrRef>
          </c:cat>
          <c:val>
            <c:numRef>
              <c:f>Sheet1!$C$2:$C$6</c:f>
              <c:numCache>
                <c:formatCode>General</c:formatCode>
                <c:ptCount val="5"/>
                <c:pt idx="0">
                  <c:v>100</c:v>
                </c:pt>
                <c:pt idx="1">
                  <c:v>100</c:v>
                </c:pt>
                <c:pt idx="2">
                  <c:v>100</c:v>
                </c:pt>
                <c:pt idx="3">
                  <c:v>100</c:v>
                </c:pt>
                <c:pt idx="4">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F6A"/>
                </a:solidFill>
                <a:latin typeface="+mn-lt"/>
              </a:defRPr>
            </a:pPr>
            <a:endParaRPr lang="en-US"/>
          </a:p>
        </c:txPr>
        <c:crossAx val="2094734552"/>
        <c:crosses val="autoZero"/>
        <c:auto val="1"/>
        <c:lblAlgn val="ctr"/>
        <c:noMultiLvlLbl val="1"/>
      </c:catAx>
      <c:valAx>
        <c:axId val="2094734552"/>
        <c:scaling>
          <c:orientation val="minMax"/>
          <c:max val="101"/>
          <c:min val="90"/>
        </c:scaling>
        <c:delete val="0"/>
        <c:axPos val="l"/>
        <c:majorGridlines>
          <c:spPr>
            <a:ln w="12700" cap="flat">
              <a:solidFill>
                <a:srgbClr val="E3E4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4F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4F6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PulseOS, a smart health monitoring system. The heart of it is AdaptAlert, an alert engine that learns what is normal for each patient, explains every alert, and learns from patient and doctor feedback. In our simulation it cut false alarms by about 97 percent while catching every real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alarm fatigue. Normal monitors use one fixed threshold for everyone. At home, a walk, a coffee or a loose strap crosses that line, so most alarms are false. In our simulation a fixed monitor gave 3.7 false alarms per patient per day, and only 3 percent of its alerts were real. When most alarms are false, people stop trusting them, and a real emergency can be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systems have four main weaknesses. One threshold for everyone. No learning after deployment. Alerts that do not explain themselves. And no protection against bad sensor data. AdaptAlert addresses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PulseOS, a working website for phone and laptop, with AdaptAlert inside. It learns each patient’s normal per activity, explains every alert, learns from patient and doctor feedback, and never ignores danger because of a safety floor. On the right is the patient’s Today screen, in English and Hindi.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project. Stage A checks signal quality, so a loose band can never cause an alarm. Stage B detects activity. Stage C keeps a personal normal for each activity. Stage D is the safety floor: if oxygen drops to 90 percent or below, it alerts immediately without asking the model. Stage E looks for readings unusual for this person for at least three minutes. Stage F decides, and stage G explains the decision in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blends two estimates. P model is a decision tree based on clinical reasoning. P you is how often the same pattern was really a problem for this patient. At first the model decides; as the patient and doctor give answers, the personal history gets more weight. If the probability is above the personal threshold tau, an alert is sent. Tau changes slowly and only within safe limits, so the system cannot learn to ignore a real emergency.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alert has a page called “How AdaptAlert decided”. It shows why the alert fired, how sure the system is, what would have changed the decision, and who was told. The patient can answer what was happening, and the doctor marks it real or a false alarm. That feedback is what the system learns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research gaps our project fills. G1 to G7 are about the alert engine and are evaluated in our simulation: personal normals, learning from feedback, safe learning, explainability, signal quality, a federated cold start, and proper statistics. G8 and G9 are about inclusion: Hindi support and accessibility for older and disabled people. Those are built and tested in the app, and would need a user study for a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the engine in a simulation: 40 virtual patients for 30 days, with everyday events and 159 real deteriorations. We compared five systems on exactly the same events: a fixed threshold, a personal normal without learning, AdaptAlert, AdaptAlert without its safeguards as an ablation, and AdaptAlert with a federated prior. Results have 95 percent bootstrap confidence intervals. Anyone can rerun this in the Research Lab inside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Fixed thresholds gave 3.7 false alarms per patient per day. AdaptAlert gave 0.11, that is about 97 percent fewer, while still catching every real event and every critical event. About 40 percent of AdaptAlert’s alerts were real, compared with 3 percent for fixed thresholds. The federated prior also fixes the cold start: first-week false alarms dropped from 0.47 to 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learning system can be taught the wrong thing. So we tested alarm fatigue: what if patients dismiss real alerts? Even at 50 percent dismissal, sensitivity stays around 94 percent, and critical events stay at 100 percent, because the safety floor never depends on the learned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PulseOS is one website with three apps. Patients see their vitals, explained alerts, appointments, records and SOS. Doctors get a dashboard, a patient list with notes and prescriptions, a schedule, and they review AdaptAlert alerts, which teaches the system. Nurses get timed shift tasks, handover notes and the ward. It works on phone and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made it inclusive. The whole app works in English and Hindi. A help assistant answers questions like “where are my reports” in English, Hindi or Hinglish, and takes you there with one tap; you can also speak your question. The accessibility settings add large text, an easy home screen for older users, flashing alerts for people with hearing loss, and spoken alerts for people with low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 is simulated today; the same engine will take readings from an ESP32 band or an Apple Watch. The AdaptAlert engine is pure Dart and runs on the device. The apps are Flutter, so one code base gives us web, Android and iOS. The Research Lab runs the experiments, accounts are stored securely with salted hashes, the site is hosted on Vercel, and we have 100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short live demo. First the guided demo with voice: it shows the whole story in about two and a half minutes and ends with the log-in screen. Then I log in as a doctor, then as a nurse, then as a patient to show the help assistant and accessibility, and finally the Research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limitations. Our results are from a simulation, the band is simulated, and the decision tree is hand-built. Next we plan to connect a real ESP32 band or an Apple Watch, validate on real PhysioNet recordings, run a small volunteer study, and add a shared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PulseOS makes alerts trustworthy again. It learns each patient, explains every alert and keeps a safety floor so danger is never ignored.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731520" y="3794760"/>
            <a:ext cx="960120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PulseOS · Smart Health Monitoring System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731520" y="822960"/>
            <a:ext cx="868680" cy="868680"/>
          </a:xfrm>
          <a:prstGeom prst="ellipse">
            <a:avLst/>
          </a:prstGeom>
          <a:solidFill>
            <a:schemeClr val="accent1"/>
          </a:solidFill>
          <a:ln w="12700">
            <a:solidFill>
              <a:schemeClr val="accent1"/>
            </a:solidFill>
            <a:prstDash val="solid"/>
          </a:ln>
        </p:spPr>
      </p:sp>
      <p:pic>
        <p:nvPicPr>
          <p:cNvPr id="3" name="icon" descr="preencoded.png">    </p:cNvPr>
          <p:cNvPicPr>
            <a:picLocks noChangeAspect="1"/>
          </p:cNvPicPr>
          <p:nvPr/>
        </p:nvPicPr>
        <p:blipFill>
          <a:blip r:embed="rId1"/>
          <a:stretch>
            <a:fillRect/>
          </a:stretch>
        </p:blipFill>
        <p:spPr>
          <a:xfrm>
            <a:off x="948690" y="1040130"/>
            <a:ext cx="434340" cy="434340"/>
          </a:xfrm>
          <a:prstGeom prst="rect">
            <a:avLst/>
          </a:prstGeom>
        </p:spPr>
      </p:pic>
      <p:sp>
        <p:nvSpPr>
          <p:cNvPr id="4" name="Text 1"/>
          <p:cNvSpPr txBox="1"/>
          <p:nvPr/>
        </p:nvSpPr>
        <p:spPr>
          <a:xfrm>
            <a:off x="1783080" y="868680"/>
            <a:ext cx="5486400" cy="411480"/>
          </a:xfrm>
          <a:prstGeom prst="rect">
            <a:avLst/>
          </a:prstGeom>
          <a:noFill/>
          <a:ln/>
        </p:spPr>
        <p:txBody>
          <a:bodyPr wrap="square" lIns="0" tIns="0" rIns="0" bIns="0" rtlCol="0" anchor="ctr"/>
          <a:lstStyle/>
          <a:p>
            <a:pPr indent="0" marL="0">
              <a:buNone/>
            </a:pPr>
            <a:r>
              <a:rPr lang="en-US" sz="2400" b="1" dirty="0">
                <a:solidFill>
                  <a:schemeClr val="bg1"/>
                </a:solidFill>
              </a:rPr>
              <a:t>PulseOS</a:t>
            </a:r>
            <a:endParaRPr lang="en-US" sz="2400" dirty="0"/>
          </a:p>
        </p:txBody>
      </p:sp>
      <p:sp>
        <p:nvSpPr>
          <p:cNvPr id="5" name="Text 2"/>
          <p:cNvSpPr txBox="1"/>
          <p:nvPr/>
        </p:nvSpPr>
        <p:spPr>
          <a:xfrm>
            <a:off x="1783080" y="1280160"/>
            <a:ext cx="8229600" cy="365760"/>
          </a:xfrm>
          <a:prstGeom prst="rect">
            <a:avLst/>
          </a:prstGeom>
          <a:noFill/>
          <a:ln/>
        </p:spPr>
        <p:txBody>
          <a:bodyPr wrap="square" lIns="0" tIns="0" rIns="0" bIns="0" rtlCol="0" anchor="ctr"/>
          <a:lstStyle/>
          <a:p>
            <a:pPr indent="0" marL="0">
              <a:buNone/>
            </a:pPr>
            <a:r>
              <a:rPr lang="en-US" sz="1600" dirty="0">
                <a:solidFill>
                  <a:schemeClr val="bg2"/>
                </a:solidFill>
              </a:rPr>
              <a:t>Smart Health Monitoring System · B.Tech CSE Major Project</a:t>
            </a:r>
            <a:endParaRPr lang="en-US" sz="1600" dirty="0"/>
          </a:p>
        </p:txBody>
      </p:sp>
      <p:sp>
        <p:nvSpPr>
          <p:cNvPr id="6" name="Text 0"/>
          <p:cNvSpPr/>
          <p:nvPr>
            <p:ph idx="100" type="title" hasCustomPrompt="1"/>
          </p:nvPr>
        </p:nvSpPr>
        <p:spPr>
          <a:xfrm>
            <a:off x="731520" y="2011680"/>
            <a:ext cx="10698480" cy="1737360"/>
          </a:xfrm>
          <a:prstGeom prst="rect">
            <a:avLst/>
          </a:prstGeom>
          <a:noFill/>
          <a:ln/>
        </p:spPr>
        <p:txBody>
          <a:bodyPr wrap="square" rtlCol="0" anchor="t"/>
          <a:lstStyle/>
          <a:p>
            <a:pPr indent="0" marL="0">
              <a:buNone/>
            </a:pPr>
            <a:r>
              <a:rPr lang="en-US" sz="4800" b="1" dirty="0">
                <a:solidFill>
                  <a:schemeClr val="bg1"/>
                </a:solidFill>
              </a:rPr>
              <a:t>Health alerts that learn the patient</a:t>
            </a:r>
            <a:endParaRPr lang="en-US" sz="4800" dirty="0"/>
          </a:p>
        </p:txBody>
      </p:sp>
      <p:sp>
        <p:nvSpPr>
          <p:cNvPr id="7" name="Text 0"/>
          <p:cNvSpPr/>
          <p:nvPr>
            <p:ph idx="101" type="body" hasCustomPrompt="1"/>
          </p:nvPr>
        </p:nvSpPr>
        <p:spPr>
          <a:xfrm>
            <a:off x="731520" y="3794760"/>
            <a:ext cx="9601200" cy="1097280"/>
          </a:xfrm>
          <a:prstGeom prst="rect">
            <a:avLst/>
          </a:prstGeom>
          <a:noFill/>
          <a:ln/>
        </p:spPr>
        <p:txBody>
          <a:bodyPr wrap="square" rtlCol="0" anchor="t"/>
          <a:lstStyle/>
          <a:p>
            <a:pPr indent="0" marL="0">
              <a:buNone/>
            </a:pPr>
            <a:r>
              <a:rPr lang="en-US" sz="2000" dirty="0">
                <a:solidFill>
                  <a:schemeClr val="bg2"/>
                </a:solidFill>
              </a:rPr>
              <a:t>Self-learning, explainable alerts with patient and doctor feedback, powered by our AdaptAlert engine</a:t>
            </a:r>
            <a:endParaRPr lang="en-US" sz="2000" dirty="0"/>
          </a:p>
        </p:txBody>
      </p:sp>
      <p:sp>
        <p:nvSpPr>
          <p:cNvPr id="8" name="Text 5"/>
          <p:cNvSpPr txBox="1"/>
          <p:nvPr/>
        </p:nvSpPr>
        <p:spPr>
          <a:xfrm>
            <a:off x="731520" y="5120640"/>
            <a:ext cx="2560320" cy="640080"/>
          </a:xfrm>
          <a:prstGeom prst="rect">
            <a:avLst/>
          </a:prstGeom>
          <a:noFill/>
          <a:ln/>
        </p:spPr>
        <p:txBody>
          <a:bodyPr wrap="square" lIns="0" tIns="0" rIns="0" bIns="0" rtlCol="0" anchor="ctr"/>
          <a:lstStyle/>
          <a:p>
            <a:pPr indent="0" marL="0">
              <a:buNone/>
            </a:pPr>
            <a:r>
              <a:rPr lang="en-US" sz="3600" b="1" dirty="0">
                <a:solidFill>
                  <a:schemeClr val="accent1"/>
                </a:solidFill>
              </a:rPr>
              <a:t>~97%</a:t>
            </a:r>
            <a:endParaRPr lang="en-US" sz="3600" dirty="0"/>
          </a:p>
        </p:txBody>
      </p:sp>
      <p:sp>
        <p:nvSpPr>
          <p:cNvPr id="9" name="Text 6"/>
          <p:cNvSpPr txBox="1"/>
          <p:nvPr/>
        </p:nvSpPr>
        <p:spPr>
          <a:xfrm>
            <a:off x="731520" y="5760720"/>
            <a:ext cx="2560320" cy="365760"/>
          </a:xfrm>
          <a:prstGeom prst="rect">
            <a:avLst/>
          </a:prstGeom>
          <a:noFill/>
          <a:ln/>
        </p:spPr>
        <p:txBody>
          <a:bodyPr wrap="square" lIns="0" tIns="0" rIns="0" bIns="0" rtlCol="0" anchor="ctr"/>
          <a:lstStyle/>
          <a:p>
            <a:pPr indent="0" marL="0">
              <a:buNone/>
            </a:pPr>
            <a:r>
              <a:rPr lang="en-US" sz="1400" dirty="0">
                <a:solidFill>
                  <a:schemeClr val="bg2"/>
                </a:solidFill>
              </a:rPr>
              <a:t>fewer false alarms</a:t>
            </a:r>
            <a:endParaRPr lang="en-US" sz="1400" dirty="0"/>
          </a:p>
        </p:txBody>
      </p:sp>
      <p:sp>
        <p:nvSpPr>
          <p:cNvPr id="10" name="Text 7"/>
          <p:cNvSpPr txBox="1"/>
          <p:nvPr/>
        </p:nvSpPr>
        <p:spPr>
          <a:xfrm>
            <a:off x="3474720" y="5120640"/>
            <a:ext cx="2560320" cy="640080"/>
          </a:xfrm>
          <a:prstGeom prst="rect">
            <a:avLst/>
          </a:prstGeom>
          <a:noFill/>
          <a:ln/>
        </p:spPr>
        <p:txBody>
          <a:bodyPr wrap="square" lIns="0" tIns="0" rIns="0" bIns="0" rtlCol="0" anchor="ctr"/>
          <a:lstStyle/>
          <a:p>
            <a:pPr indent="0" marL="0">
              <a:buNone/>
            </a:pPr>
            <a:r>
              <a:rPr lang="en-US" sz="3600" b="1" dirty="0">
                <a:solidFill>
                  <a:schemeClr val="accent1"/>
                </a:solidFill>
              </a:rPr>
              <a:t>100%</a:t>
            </a:r>
            <a:endParaRPr lang="en-US" sz="3600" dirty="0"/>
          </a:p>
        </p:txBody>
      </p:sp>
      <p:sp>
        <p:nvSpPr>
          <p:cNvPr id="11" name="Text 8"/>
          <p:cNvSpPr txBox="1"/>
          <p:nvPr/>
        </p:nvSpPr>
        <p:spPr>
          <a:xfrm>
            <a:off x="3474720" y="5760720"/>
            <a:ext cx="2560320" cy="365760"/>
          </a:xfrm>
          <a:prstGeom prst="rect">
            <a:avLst/>
          </a:prstGeom>
          <a:noFill/>
          <a:ln/>
        </p:spPr>
        <p:txBody>
          <a:bodyPr wrap="square" lIns="0" tIns="0" rIns="0" bIns="0" rtlCol="0" anchor="ctr"/>
          <a:lstStyle/>
          <a:p>
            <a:pPr indent="0" marL="0">
              <a:buNone/>
            </a:pPr>
            <a:r>
              <a:rPr lang="en-US" sz="1400" dirty="0">
                <a:solidFill>
                  <a:schemeClr val="bg2"/>
                </a:solidFill>
              </a:rPr>
              <a:t>real events caught</a:t>
            </a:r>
            <a:endParaRPr lang="en-US" sz="1400" dirty="0"/>
          </a:p>
        </p:txBody>
      </p:sp>
      <p:sp>
        <p:nvSpPr>
          <p:cNvPr id="12" name="Text 9"/>
          <p:cNvSpPr txBox="1"/>
          <p:nvPr/>
        </p:nvSpPr>
        <p:spPr>
          <a:xfrm>
            <a:off x="6217920" y="5120640"/>
            <a:ext cx="2560320" cy="640080"/>
          </a:xfrm>
          <a:prstGeom prst="rect">
            <a:avLst/>
          </a:prstGeom>
          <a:noFill/>
          <a:ln/>
        </p:spPr>
        <p:txBody>
          <a:bodyPr wrap="square" lIns="0" tIns="0" rIns="0" bIns="0" rtlCol="0" anchor="ctr"/>
          <a:lstStyle/>
          <a:p>
            <a:pPr indent="0" marL="0">
              <a:buNone/>
            </a:pPr>
            <a:r>
              <a:rPr lang="en-US" sz="3600" b="1" dirty="0">
                <a:solidFill>
                  <a:schemeClr val="accent1"/>
                </a:solidFill>
              </a:rPr>
              <a:t>7</a:t>
            </a:r>
            <a:endParaRPr lang="en-US" sz="3600" dirty="0"/>
          </a:p>
        </p:txBody>
      </p:sp>
      <p:sp>
        <p:nvSpPr>
          <p:cNvPr id="13" name="Text 10"/>
          <p:cNvSpPr txBox="1"/>
          <p:nvPr/>
        </p:nvSpPr>
        <p:spPr>
          <a:xfrm>
            <a:off x="6217920" y="5760720"/>
            <a:ext cx="2560320" cy="365760"/>
          </a:xfrm>
          <a:prstGeom prst="rect">
            <a:avLst/>
          </a:prstGeom>
          <a:noFill/>
          <a:ln/>
        </p:spPr>
        <p:txBody>
          <a:bodyPr wrap="square" lIns="0" tIns="0" rIns="0" bIns="0" rtlCol="0" anchor="ctr"/>
          <a:lstStyle/>
          <a:p>
            <a:pPr indent="0" marL="0">
              <a:buNone/>
            </a:pPr>
            <a:r>
              <a:rPr lang="en-US" sz="1400" dirty="0">
                <a:solidFill>
                  <a:schemeClr val="bg2"/>
                </a:solidFill>
              </a:rPr>
              <a:t>stage explainable AI</a:t>
            </a:r>
            <a:endParaRPr lang="en-US" sz="1400" dirty="0"/>
          </a:p>
        </p:txBody>
      </p:sp>
      <p:sp>
        <p:nvSpPr>
          <p:cNvPr id="14" name="Text 11"/>
          <p:cNvSpPr txBox="1"/>
          <p:nvPr/>
        </p:nvSpPr>
        <p:spPr>
          <a:xfrm>
            <a:off x="8961120" y="5120640"/>
            <a:ext cx="2560320" cy="640080"/>
          </a:xfrm>
          <a:prstGeom prst="rect">
            <a:avLst/>
          </a:prstGeom>
          <a:noFill/>
          <a:ln/>
        </p:spPr>
        <p:txBody>
          <a:bodyPr wrap="square" lIns="0" tIns="0" rIns="0" bIns="0" rtlCol="0" anchor="ctr"/>
          <a:lstStyle/>
          <a:p>
            <a:pPr indent="0" marL="0">
              <a:buNone/>
            </a:pPr>
            <a:r>
              <a:rPr lang="en-US" sz="3600" b="1" dirty="0">
                <a:solidFill>
                  <a:schemeClr val="accent1"/>
                </a:solidFill>
              </a:rPr>
              <a:t>3</a:t>
            </a:r>
            <a:endParaRPr lang="en-US" sz="3600" dirty="0"/>
          </a:p>
        </p:txBody>
      </p:sp>
      <p:sp>
        <p:nvSpPr>
          <p:cNvPr id="15" name="Text 12"/>
          <p:cNvSpPr txBox="1"/>
          <p:nvPr/>
        </p:nvSpPr>
        <p:spPr>
          <a:xfrm>
            <a:off x="8961120" y="5760720"/>
            <a:ext cx="2560320" cy="365760"/>
          </a:xfrm>
          <a:prstGeom prst="rect">
            <a:avLst/>
          </a:prstGeom>
          <a:noFill/>
          <a:ln/>
        </p:spPr>
        <p:txBody>
          <a:bodyPr wrap="square" lIns="0" tIns="0" rIns="0" bIns="0" rtlCol="0" anchor="ctr"/>
          <a:lstStyle/>
          <a:p>
            <a:pPr indent="0" marL="0">
              <a:buNone/>
            </a:pPr>
            <a:r>
              <a:rPr lang="en-US" sz="1400" dirty="0">
                <a:solidFill>
                  <a:schemeClr val="bg2"/>
                </a:solidFill>
              </a:rPr>
              <a:t>apps: patient, doctor, nurse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The problem: too many false alarms</a:t>
            </a:r>
            <a:endParaRPr lang="en-US" sz="3600" dirty="0"/>
          </a:p>
        </p:txBody>
      </p:sp>
      <p:sp>
        <p:nvSpPr>
          <p:cNvPr id="3" name="Text 1"/>
          <p:cNvSpPr txBox="1"/>
          <p:nvPr/>
        </p:nvSpPr>
        <p:spPr>
          <a:xfrm>
            <a:off x="548640" y="1280160"/>
            <a:ext cx="5669280" cy="173736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Health monitors alarm whenever a number crosses one fixed line, for example heart rate above 100.</a:t>
            </a:r>
            <a:endParaRPr lang="en-US" sz="1800" dirty="0"/>
          </a:p>
          <a:p>
            <a:pPr indent="0" marL="0">
              <a:spcAft>
                <a:spcPts val="800"/>
              </a:spcAft>
              <a:buNone/>
            </a:pPr>
            <a:r>
              <a:rPr lang="en-US" sz="1800" dirty="0">
                <a:solidFill>
                  <a:schemeClr val="tx1"/>
                </a:solidFill>
              </a:rPr>
              <a:t>At home that line is crossed all the time by harmless things. Most alarms are false, so people start ignoring them. This is </a:t>
            </a:r>
            <a:pPr indent="0" marL="0">
              <a:spcAft>
                <a:spcPts val="800"/>
              </a:spcAft>
              <a:buNone/>
            </a:pPr>
            <a:r>
              <a:rPr lang="en-US" sz="1800" b="1" dirty="0">
                <a:solidFill>
                  <a:schemeClr val="accent1"/>
                </a:solidFill>
              </a:rPr>
              <a:t>alarm fatigue</a:t>
            </a:r>
            <a:pPr indent="0" marL="0">
              <a:spcAft>
                <a:spcPts val="800"/>
              </a:spcAft>
              <a:buNone/>
            </a:pPr>
            <a:r>
              <a:rPr lang="en-US" sz="1800" dirty="0">
                <a:solidFill>
                  <a:schemeClr val="tx1"/>
                </a:solidFill>
              </a:rPr>
              <a:t>, a recognised patient-safety problem.</a:t>
            </a:r>
            <a:endParaRPr lang="en-US" sz="1800" dirty="0"/>
          </a:p>
        </p:txBody>
      </p:sp>
      <p:sp>
        <p:nvSpPr>
          <p:cNvPr id="4" name="icon circle"/>
          <p:cNvSpPr/>
          <p:nvPr/>
        </p:nvSpPr>
        <p:spPr>
          <a:xfrm>
            <a:off x="548640" y="3246120"/>
            <a:ext cx="731520" cy="731520"/>
          </a:xfrm>
          <a:prstGeom prst="ellipse">
            <a:avLst/>
          </a:prstGeom>
          <a:solidFill>
            <a:schemeClr val="accent5"/>
          </a:solidFill>
          <a:ln w="12700">
            <a:solidFill>
              <a:schemeClr val="accent5"/>
            </a:solidFill>
            <a:prstDash val="solid"/>
          </a:ln>
        </p:spPr>
      </p:sp>
      <p:pic>
        <p:nvPicPr>
          <p:cNvPr id="5" name="icon" descr="preencoded.png">    </p:cNvPr>
          <p:cNvPicPr>
            <a:picLocks noChangeAspect="1"/>
          </p:cNvPicPr>
          <p:nvPr/>
        </p:nvPicPr>
        <p:blipFill>
          <a:blip r:embed="rId1"/>
          <a:stretch>
            <a:fillRect/>
          </a:stretch>
        </p:blipFill>
        <p:spPr>
          <a:xfrm>
            <a:off x="731520" y="3429000"/>
            <a:ext cx="365760" cy="365760"/>
          </a:xfrm>
          <a:prstGeom prst="rect">
            <a:avLst/>
          </a:prstGeom>
        </p:spPr>
      </p:pic>
      <p:sp>
        <p:nvSpPr>
          <p:cNvPr id="6" name="Text 3"/>
          <p:cNvSpPr txBox="1"/>
          <p:nvPr/>
        </p:nvSpPr>
        <p:spPr>
          <a:xfrm>
            <a:off x="1463040" y="324612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A walk</a:t>
            </a:r>
            <a:endParaRPr lang="en-US" sz="1800" dirty="0"/>
          </a:p>
        </p:txBody>
      </p:sp>
      <p:sp>
        <p:nvSpPr>
          <p:cNvPr id="7" name="Text 4"/>
          <p:cNvSpPr txBox="1"/>
          <p:nvPr/>
        </p:nvSpPr>
        <p:spPr>
          <a:xfrm>
            <a:off x="1463040" y="3611880"/>
            <a:ext cx="4754880" cy="365760"/>
          </a:xfrm>
          <a:prstGeom prst="rect">
            <a:avLst/>
          </a:prstGeom>
          <a:noFill/>
          <a:ln/>
        </p:spPr>
        <p:txBody>
          <a:bodyPr wrap="square" lIns="0" tIns="0" rIns="0" bIns="0" rtlCol="0" anchor="ctr"/>
          <a:lstStyle/>
          <a:p>
            <a:pPr indent="0" marL="0">
              <a:buNone/>
            </a:pPr>
            <a:r>
              <a:rPr lang="en-US" sz="1400" dirty="0">
                <a:solidFill>
                  <a:schemeClr val="tx2"/>
                </a:solidFill>
              </a:rPr>
              <a:t>Heart rate goes above 100 → fixed monitor alarms</a:t>
            </a:r>
            <a:endParaRPr lang="en-US" sz="1400" dirty="0"/>
          </a:p>
        </p:txBody>
      </p:sp>
      <p:sp>
        <p:nvSpPr>
          <p:cNvPr id="8" name="icon circle"/>
          <p:cNvSpPr/>
          <p:nvPr/>
        </p:nvSpPr>
        <p:spPr>
          <a:xfrm>
            <a:off x="548640" y="4233672"/>
            <a:ext cx="731520" cy="731520"/>
          </a:xfrm>
          <a:prstGeom prst="ellipse">
            <a:avLst/>
          </a:prstGeom>
          <a:solidFill>
            <a:schemeClr val="accent4"/>
          </a:solidFill>
          <a:ln w="12700">
            <a:solidFill>
              <a:schemeClr val="accent4"/>
            </a:solidFill>
            <a:prstDash val="solid"/>
          </a:ln>
        </p:spPr>
      </p:sp>
      <p:pic>
        <p:nvPicPr>
          <p:cNvPr id="9" name="icon" descr="preencoded.png">    </p:cNvPr>
          <p:cNvPicPr>
            <a:picLocks noChangeAspect="1"/>
          </p:cNvPicPr>
          <p:nvPr/>
        </p:nvPicPr>
        <p:blipFill>
          <a:blip r:embed="rId2"/>
          <a:stretch>
            <a:fillRect/>
          </a:stretch>
        </p:blipFill>
        <p:spPr>
          <a:xfrm>
            <a:off x="731520" y="4416552"/>
            <a:ext cx="365760" cy="365760"/>
          </a:xfrm>
          <a:prstGeom prst="rect">
            <a:avLst/>
          </a:prstGeom>
        </p:spPr>
      </p:pic>
      <p:sp>
        <p:nvSpPr>
          <p:cNvPr id="10" name="Text 6"/>
          <p:cNvSpPr txBox="1"/>
          <p:nvPr/>
        </p:nvSpPr>
        <p:spPr>
          <a:xfrm>
            <a:off x="1463040" y="4233672"/>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A strong coffee</a:t>
            </a:r>
            <a:endParaRPr lang="en-US" sz="1800" dirty="0"/>
          </a:p>
        </p:txBody>
      </p:sp>
      <p:sp>
        <p:nvSpPr>
          <p:cNvPr id="11" name="Text 7"/>
          <p:cNvSpPr txBox="1"/>
          <p:nvPr/>
        </p:nvSpPr>
        <p:spPr>
          <a:xfrm>
            <a:off x="1463040" y="4599432"/>
            <a:ext cx="4754880" cy="365760"/>
          </a:xfrm>
          <a:prstGeom prst="rect">
            <a:avLst/>
          </a:prstGeom>
          <a:noFill/>
          <a:ln/>
        </p:spPr>
        <p:txBody>
          <a:bodyPr wrap="square" lIns="0" tIns="0" rIns="0" bIns="0" rtlCol="0" anchor="ctr"/>
          <a:lstStyle/>
          <a:p>
            <a:pPr indent="0" marL="0">
              <a:buNone/>
            </a:pPr>
            <a:r>
              <a:rPr lang="en-US" sz="1400" dirty="0">
                <a:solidFill>
                  <a:schemeClr val="tx2"/>
                </a:solidFill>
              </a:rPr>
              <a:t>Heart rate stays high for minutes → fixed monitor alarms</a:t>
            </a:r>
            <a:endParaRPr lang="en-US" sz="1400" dirty="0"/>
          </a:p>
        </p:txBody>
      </p:sp>
      <p:sp>
        <p:nvSpPr>
          <p:cNvPr id="12" name="icon circle"/>
          <p:cNvSpPr/>
          <p:nvPr/>
        </p:nvSpPr>
        <p:spPr>
          <a:xfrm>
            <a:off x="548640" y="5221224"/>
            <a:ext cx="731520" cy="731520"/>
          </a:xfrm>
          <a:prstGeom prst="ellipse">
            <a:avLst/>
          </a:prstGeom>
          <a:solidFill>
            <a:schemeClr val="accent6"/>
          </a:solidFill>
          <a:ln w="12700">
            <a:solidFill>
              <a:schemeClr val="accent6"/>
            </a:solidFill>
            <a:prstDash val="solid"/>
          </a:ln>
        </p:spPr>
      </p:sp>
      <p:pic>
        <p:nvPicPr>
          <p:cNvPr id="13" name="icon" descr="preencoded.png">    </p:cNvPr>
          <p:cNvPicPr>
            <a:picLocks noChangeAspect="1"/>
          </p:cNvPicPr>
          <p:nvPr/>
        </p:nvPicPr>
        <p:blipFill>
          <a:blip r:embed="rId3"/>
          <a:stretch>
            <a:fillRect/>
          </a:stretch>
        </p:blipFill>
        <p:spPr>
          <a:xfrm>
            <a:off x="731520" y="5404104"/>
            <a:ext cx="365760" cy="365760"/>
          </a:xfrm>
          <a:prstGeom prst="rect">
            <a:avLst/>
          </a:prstGeom>
        </p:spPr>
      </p:pic>
      <p:sp>
        <p:nvSpPr>
          <p:cNvPr id="14" name="Text 9"/>
          <p:cNvSpPr txBox="1"/>
          <p:nvPr/>
        </p:nvSpPr>
        <p:spPr>
          <a:xfrm>
            <a:off x="1463040" y="5221224"/>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A loose band</a:t>
            </a:r>
            <a:endParaRPr lang="en-US" sz="1800" dirty="0"/>
          </a:p>
        </p:txBody>
      </p:sp>
      <p:sp>
        <p:nvSpPr>
          <p:cNvPr id="15" name="Text 10"/>
          <p:cNvSpPr txBox="1"/>
          <p:nvPr/>
        </p:nvSpPr>
        <p:spPr>
          <a:xfrm>
            <a:off x="1463040" y="5586984"/>
            <a:ext cx="4754880" cy="365760"/>
          </a:xfrm>
          <a:prstGeom prst="rect">
            <a:avLst/>
          </a:prstGeom>
          <a:noFill/>
          <a:ln/>
        </p:spPr>
        <p:txBody>
          <a:bodyPr wrap="square" lIns="0" tIns="0" rIns="0" bIns="0" rtlCol="0" anchor="ctr"/>
          <a:lstStyle/>
          <a:p>
            <a:pPr indent="0" marL="0">
              <a:buNone/>
            </a:pPr>
            <a:r>
              <a:rPr lang="en-US" sz="1400" dirty="0">
                <a:solidFill>
                  <a:schemeClr val="tx2"/>
                </a:solidFill>
              </a:rPr>
              <a:t>Readings jump all over the place → fixed monitor alarms</a:t>
            </a:r>
            <a:endParaRPr lang="en-US" sz="1400" dirty="0"/>
          </a:p>
        </p:txBody>
      </p:sp>
      <p:sp>
        <p:nvSpPr>
          <p:cNvPr id="16" name="card"/>
          <p:cNvSpPr/>
          <p:nvPr/>
        </p:nvSpPr>
        <p:spPr>
          <a:xfrm>
            <a:off x="6766560" y="1280160"/>
            <a:ext cx="4846320" cy="4754880"/>
          </a:xfrm>
          <a:prstGeom prst="roundRect">
            <a:avLst>
              <a:gd name="adj" fmla="val 2308"/>
            </a:avLst>
          </a:prstGeom>
          <a:solidFill>
            <a:schemeClr val="tx1"/>
          </a:solidFill>
          <a:ln w="12700">
            <a:solidFill>
              <a:schemeClr val="tx1"/>
            </a:solidFill>
            <a:prstDash val="solid"/>
          </a:ln>
        </p:spPr>
      </p:sp>
      <p:sp>
        <p:nvSpPr>
          <p:cNvPr id="17" name="Text 12"/>
          <p:cNvSpPr txBox="1"/>
          <p:nvPr/>
        </p:nvSpPr>
        <p:spPr>
          <a:xfrm>
            <a:off x="7132320" y="1508760"/>
            <a:ext cx="4206240" cy="640080"/>
          </a:xfrm>
          <a:prstGeom prst="rect">
            <a:avLst/>
          </a:prstGeom>
          <a:noFill/>
          <a:ln/>
        </p:spPr>
        <p:txBody>
          <a:bodyPr wrap="square" lIns="0" tIns="0" rIns="0" bIns="0" rtlCol="0" anchor="ctr"/>
          <a:lstStyle/>
          <a:p>
            <a:pPr indent="0" marL="0">
              <a:buNone/>
            </a:pPr>
            <a:r>
              <a:rPr lang="en-US" sz="1500" dirty="0">
                <a:solidFill>
                  <a:schemeClr val="bg2"/>
                </a:solidFill>
              </a:rPr>
              <a:t>In our 30-day simulation of a fixed-threshold monitor</a:t>
            </a:r>
            <a:endParaRPr lang="en-US" sz="1500" dirty="0"/>
          </a:p>
        </p:txBody>
      </p:sp>
      <p:sp>
        <p:nvSpPr>
          <p:cNvPr id="18" name="Text 13"/>
          <p:cNvSpPr txBox="1"/>
          <p:nvPr/>
        </p:nvSpPr>
        <p:spPr>
          <a:xfrm>
            <a:off x="7132320" y="2148840"/>
            <a:ext cx="4206240" cy="914400"/>
          </a:xfrm>
          <a:prstGeom prst="rect">
            <a:avLst/>
          </a:prstGeom>
          <a:noFill/>
          <a:ln/>
        </p:spPr>
        <p:txBody>
          <a:bodyPr wrap="square" lIns="0" tIns="0" rIns="0" bIns="0" rtlCol="0" anchor="ctr"/>
          <a:lstStyle/>
          <a:p>
            <a:pPr indent="0" marL="0">
              <a:buNone/>
            </a:pPr>
            <a:r>
              <a:rPr lang="en-US" sz="6600" b="1" dirty="0">
                <a:solidFill>
                  <a:schemeClr val="accent1"/>
                </a:solidFill>
              </a:rPr>
              <a:t>3.7</a:t>
            </a:r>
            <a:endParaRPr lang="en-US" sz="6600" dirty="0"/>
          </a:p>
        </p:txBody>
      </p:sp>
      <p:sp>
        <p:nvSpPr>
          <p:cNvPr id="19" name="Text 14"/>
          <p:cNvSpPr txBox="1"/>
          <p:nvPr/>
        </p:nvSpPr>
        <p:spPr>
          <a:xfrm>
            <a:off x="7132320" y="3063240"/>
            <a:ext cx="4206240" cy="365760"/>
          </a:xfrm>
          <a:prstGeom prst="rect">
            <a:avLst/>
          </a:prstGeom>
          <a:noFill/>
          <a:ln/>
        </p:spPr>
        <p:txBody>
          <a:bodyPr wrap="square" lIns="0" tIns="0" rIns="0" bIns="0" rtlCol="0" anchor="ctr"/>
          <a:lstStyle/>
          <a:p>
            <a:pPr indent="0" marL="0">
              <a:buNone/>
            </a:pPr>
            <a:r>
              <a:rPr lang="en-US" sz="1600" dirty="0">
                <a:solidFill>
                  <a:schemeClr val="bg1"/>
                </a:solidFill>
              </a:rPr>
              <a:t>false alarms per patient, every day</a:t>
            </a:r>
            <a:endParaRPr lang="en-US" sz="1600" dirty="0"/>
          </a:p>
        </p:txBody>
      </p:sp>
      <p:sp>
        <p:nvSpPr>
          <p:cNvPr id="20" name="Text 15"/>
          <p:cNvSpPr txBox="1"/>
          <p:nvPr/>
        </p:nvSpPr>
        <p:spPr>
          <a:xfrm>
            <a:off x="7132320" y="3840480"/>
            <a:ext cx="4206240" cy="914400"/>
          </a:xfrm>
          <a:prstGeom prst="rect">
            <a:avLst/>
          </a:prstGeom>
          <a:noFill/>
          <a:ln/>
        </p:spPr>
        <p:txBody>
          <a:bodyPr wrap="square" lIns="0" tIns="0" rIns="0" bIns="0" rtlCol="0" anchor="ctr"/>
          <a:lstStyle/>
          <a:p>
            <a:pPr indent="0" marL="0">
              <a:buNone/>
            </a:pPr>
            <a:r>
              <a:rPr lang="en-US" sz="6600" b="1" dirty="0">
                <a:solidFill>
                  <a:schemeClr val="accent1"/>
                </a:solidFill>
              </a:rPr>
              <a:t>3%</a:t>
            </a:r>
            <a:endParaRPr lang="en-US" sz="6600" dirty="0"/>
          </a:p>
        </p:txBody>
      </p:sp>
      <p:sp>
        <p:nvSpPr>
          <p:cNvPr id="21" name="Text 16"/>
          <p:cNvSpPr txBox="1"/>
          <p:nvPr/>
        </p:nvSpPr>
        <p:spPr>
          <a:xfrm>
            <a:off x="7132320" y="4754880"/>
            <a:ext cx="4206240" cy="365760"/>
          </a:xfrm>
          <a:prstGeom prst="rect">
            <a:avLst/>
          </a:prstGeom>
          <a:noFill/>
          <a:ln/>
        </p:spPr>
        <p:txBody>
          <a:bodyPr wrap="square" lIns="0" tIns="0" rIns="0" bIns="0" rtlCol="0" anchor="ctr"/>
          <a:lstStyle/>
          <a:p>
            <a:pPr indent="0" marL="0">
              <a:buNone/>
            </a:pPr>
            <a:r>
              <a:rPr lang="en-US" sz="1600" dirty="0">
                <a:solidFill>
                  <a:schemeClr val="bg1"/>
                </a:solidFill>
              </a:rPr>
              <a:t>of its alerts were real</a:t>
            </a:r>
            <a:endParaRPr lang="en-US" sz="1600" dirty="0"/>
          </a:p>
        </p:txBody>
      </p:sp>
      <p:sp>
        <p:nvSpPr>
          <p:cNvPr id="22" name="Text 17"/>
          <p:cNvSpPr txBox="1"/>
          <p:nvPr/>
        </p:nvSpPr>
        <p:spPr>
          <a:xfrm>
            <a:off x="7132320" y="5440680"/>
            <a:ext cx="4206240" cy="365760"/>
          </a:xfrm>
          <a:prstGeom prst="rect">
            <a:avLst/>
          </a:prstGeom>
          <a:noFill/>
          <a:ln/>
        </p:spPr>
        <p:txBody>
          <a:bodyPr wrap="square" lIns="0" tIns="0" rIns="0" bIns="0" rtlCol="0" anchor="ctr"/>
          <a:lstStyle/>
          <a:p>
            <a:pPr indent="0" marL="0">
              <a:buNone/>
            </a:pPr>
            <a:r>
              <a:rPr lang="en-US" sz="1100" i="1" dirty="0">
                <a:solidFill>
                  <a:schemeClr val="bg2"/>
                </a:solidFill>
              </a:rPr>
              <a:t>Source: The Joint Commission, Sentinel Event Alert 50 (2013)</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Why existing monitoring systems fall short</a:t>
            </a:r>
            <a:endParaRPr lang="en-US" sz="3600" dirty="0"/>
          </a:p>
        </p:txBody>
      </p:sp>
      <p:sp>
        <p:nvSpPr>
          <p:cNvPr id="3" name="card"/>
          <p:cNvSpPr/>
          <p:nvPr/>
        </p:nvSpPr>
        <p:spPr>
          <a:xfrm>
            <a:off x="548640" y="1371600"/>
            <a:ext cx="544068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 circle"/>
          <p:cNvSpPr/>
          <p:nvPr/>
        </p:nvSpPr>
        <p:spPr>
          <a:xfrm>
            <a:off x="868680" y="1691640"/>
            <a:ext cx="777240" cy="777240"/>
          </a:xfrm>
          <a:prstGeom prst="ellipse">
            <a:avLst/>
          </a:prstGeom>
          <a:solidFill>
            <a:schemeClr val="accent5"/>
          </a:solidFill>
          <a:ln w="12700">
            <a:solidFill>
              <a:schemeClr val="accent5"/>
            </a:solidFill>
            <a:prstDash val="solid"/>
          </a:ln>
        </p:spPr>
      </p:sp>
      <p:pic>
        <p:nvPicPr>
          <p:cNvPr id="5" name="icon" descr="preencoded.png">    </p:cNvPr>
          <p:cNvPicPr>
            <a:picLocks noChangeAspect="1"/>
          </p:cNvPicPr>
          <p:nvPr/>
        </p:nvPicPr>
        <p:blipFill>
          <a:blip r:embed="rId1"/>
          <a:stretch>
            <a:fillRect/>
          </a:stretch>
        </p:blipFill>
        <p:spPr>
          <a:xfrm>
            <a:off x="1062990" y="1885950"/>
            <a:ext cx="388620" cy="388620"/>
          </a:xfrm>
          <a:prstGeom prst="rect">
            <a:avLst/>
          </a:prstGeom>
        </p:spPr>
      </p:pic>
      <p:sp>
        <p:nvSpPr>
          <p:cNvPr id="6" name="Text 3"/>
          <p:cNvSpPr txBox="1"/>
          <p:nvPr/>
        </p:nvSpPr>
        <p:spPr>
          <a:xfrm>
            <a:off x="1874520" y="1691640"/>
            <a:ext cx="3840480" cy="457200"/>
          </a:xfrm>
          <a:prstGeom prst="rect">
            <a:avLst/>
          </a:prstGeom>
          <a:noFill/>
          <a:ln/>
        </p:spPr>
        <p:txBody>
          <a:bodyPr wrap="square" lIns="0" tIns="0" rIns="0" bIns="0" rtlCol="0" anchor="ctr"/>
          <a:lstStyle/>
          <a:p>
            <a:pPr indent="0" marL="0">
              <a:buNone/>
            </a:pPr>
            <a:r>
              <a:rPr lang="en-US" sz="2000" b="1" dirty="0">
                <a:solidFill>
                  <a:schemeClr val="tx1"/>
                </a:solidFill>
              </a:rPr>
              <a:t>One threshold for everyone</a:t>
            </a:r>
            <a:endParaRPr lang="en-US" sz="2000" dirty="0"/>
          </a:p>
        </p:txBody>
      </p:sp>
      <p:sp>
        <p:nvSpPr>
          <p:cNvPr id="7" name="Text 4"/>
          <p:cNvSpPr txBox="1"/>
          <p:nvPr/>
        </p:nvSpPr>
        <p:spPr>
          <a:xfrm>
            <a:off x="1874520" y="2194560"/>
            <a:ext cx="3840480" cy="1005840"/>
          </a:xfrm>
          <a:prstGeom prst="rect">
            <a:avLst/>
          </a:prstGeom>
          <a:noFill/>
          <a:ln/>
        </p:spPr>
        <p:txBody>
          <a:bodyPr wrap="square" lIns="0" tIns="0" rIns="0" bIns="0" rtlCol="0" anchor="t"/>
          <a:lstStyle/>
          <a:p>
            <a:pPr indent="0" marL="0">
              <a:buNone/>
            </a:pPr>
            <a:r>
              <a:rPr lang="en-US" sz="1500" dirty="0">
                <a:solidFill>
                  <a:schemeClr val="tx2"/>
                </a:solidFill>
              </a:rPr>
              <a:t>A fit 24-year-old and a 70-year-old heart patient get the same alarm line.</a:t>
            </a:r>
            <a:endParaRPr lang="en-US" sz="1500" dirty="0"/>
          </a:p>
        </p:txBody>
      </p:sp>
      <p:sp>
        <p:nvSpPr>
          <p:cNvPr id="8" name="card"/>
          <p:cNvSpPr/>
          <p:nvPr/>
        </p:nvSpPr>
        <p:spPr>
          <a:xfrm>
            <a:off x="6172200" y="1371600"/>
            <a:ext cx="544068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 circle"/>
          <p:cNvSpPr/>
          <p:nvPr/>
        </p:nvSpPr>
        <p:spPr>
          <a:xfrm>
            <a:off x="6492240" y="1691640"/>
            <a:ext cx="777240" cy="777240"/>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2"/>
          <a:stretch>
            <a:fillRect/>
          </a:stretch>
        </p:blipFill>
        <p:spPr>
          <a:xfrm>
            <a:off x="6686550" y="1885950"/>
            <a:ext cx="388620" cy="388620"/>
          </a:xfrm>
          <a:prstGeom prst="rect">
            <a:avLst/>
          </a:prstGeom>
        </p:spPr>
      </p:pic>
      <p:sp>
        <p:nvSpPr>
          <p:cNvPr id="11" name="Text 7"/>
          <p:cNvSpPr txBox="1"/>
          <p:nvPr/>
        </p:nvSpPr>
        <p:spPr>
          <a:xfrm>
            <a:off x="7498080" y="1691640"/>
            <a:ext cx="3840480" cy="457200"/>
          </a:xfrm>
          <a:prstGeom prst="rect">
            <a:avLst/>
          </a:prstGeom>
          <a:noFill/>
          <a:ln/>
        </p:spPr>
        <p:txBody>
          <a:bodyPr wrap="square" lIns="0" tIns="0" rIns="0" bIns="0" rtlCol="0" anchor="ctr"/>
          <a:lstStyle/>
          <a:p>
            <a:pPr indent="0" marL="0">
              <a:buNone/>
            </a:pPr>
            <a:r>
              <a:rPr lang="en-US" sz="2000" b="1" dirty="0">
                <a:solidFill>
                  <a:schemeClr val="tx1"/>
                </a:solidFill>
              </a:rPr>
              <a:t>They never learn</a:t>
            </a:r>
            <a:endParaRPr lang="en-US" sz="2000" dirty="0"/>
          </a:p>
        </p:txBody>
      </p:sp>
      <p:sp>
        <p:nvSpPr>
          <p:cNvPr id="12" name="Text 8"/>
          <p:cNvSpPr txBox="1"/>
          <p:nvPr/>
        </p:nvSpPr>
        <p:spPr>
          <a:xfrm>
            <a:off x="7498080" y="2194560"/>
            <a:ext cx="3840480" cy="1005840"/>
          </a:xfrm>
          <a:prstGeom prst="rect">
            <a:avLst/>
          </a:prstGeom>
          <a:noFill/>
          <a:ln/>
        </p:spPr>
        <p:txBody>
          <a:bodyPr wrap="square" lIns="0" tIns="0" rIns="0" bIns="0" rtlCol="0" anchor="t"/>
          <a:lstStyle/>
          <a:p>
            <a:pPr indent="0" marL="0">
              <a:buNone/>
            </a:pPr>
            <a:r>
              <a:rPr lang="en-US" sz="1500" dirty="0">
                <a:solidFill>
                  <a:schemeClr val="tx2"/>
                </a:solidFill>
              </a:rPr>
              <a:t>The same harmless pattern alarms again and again, even after a doctor says it is fine.</a:t>
            </a:r>
            <a:endParaRPr lang="en-US" sz="1500" dirty="0"/>
          </a:p>
        </p:txBody>
      </p:sp>
      <p:sp>
        <p:nvSpPr>
          <p:cNvPr id="13" name="card"/>
          <p:cNvSpPr/>
          <p:nvPr/>
        </p:nvSpPr>
        <p:spPr>
          <a:xfrm>
            <a:off x="548640" y="3749040"/>
            <a:ext cx="544068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 circle"/>
          <p:cNvSpPr/>
          <p:nvPr/>
        </p:nvSpPr>
        <p:spPr>
          <a:xfrm>
            <a:off x="868680" y="4069080"/>
            <a:ext cx="777240" cy="777240"/>
          </a:xfrm>
          <a:prstGeom prst="ellipse">
            <a:avLst/>
          </a:prstGeom>
          <a:solidFill>
            <a:schemeClr val="accent4"/>
          </a:solidFill>
          <a:ln w="12700">
            <a:solidFill>
              <a:schemeClr val="accent4"/>
            </a:solidFill>
            <a:prstDash val="solid"/>
          </a:ln>
        </p:spPr>
      </p:sp>
      <p:pic>
        <p:nvPicPr>
          <p:cNvPr id="15" name="icon" descr="preencoded.png">    </p:cNvPr>
          <p:cNvPicPr>
            <a:picLocks noChangeAspect="1"/>
          </p:cNvPicPr>
          <p:nvPr/>
        </p:nvPicPr>
        <p:blipFill>
          <a:blip r:embed="rId3"/>
          <a:stretch>
            <a:fillRect/>
          </a:stretch>
        </p:blipFill>
        <p:spPr>
          <a:xfrm>
            <a:off x="1062990" y="4263390"/>
            <a:ext cx="388620" cy="388620"/>
          </a:xfrm>
          <a:prstGeom prst="rect">
            <a:avLst/>
          </a:prstGeom>
        </p:spPr>
      </p:pic>
      <p:sp>
        <p:nvSpPr>
          <p:cNvPr id="16" name="Text 11"/>
          <p:cNvSpPr txBox="1"/>
          <p:nvPr/>
        </p:nvSpPr>
        <p:spPr>
          <a:xfrm>
            <a:off x="1874520" y="4069080"/>
            <a:ext cx="3840480" cy="457200"/>
          </a:xfrm>
          <a:prstGeom prst="rect">
            <a:avLst/>
          </a:prstGeom>
          <a:noFill/>
          <a:ln/>
        </p:spPr>
        <p:txBody>
          <a:bodyPr wrap="square" lIns="0" tIns="0" rIns="0" bIns="0" rtlCol="0" anchor="ctr"/>
          <a:lstStyle/>
          <a:p>
            <a:pPr indent="0" marL="0">
              <a:buNone/>
            </a:pPr>
            <a:r>
              <a:rPr lang="en-US" sz="2000" b="1" dirty="0">
                <a:solidFill>
                  <a:schemeClr val="tx1"/>
                </a:solidFill>
              </a:rPr>
              <a:t>Black-box alerts</a:t>
            </a:r>
            <a:endParaRPr lang="en-US" sz="2000" dirty="0"/>
          </a:p>
        </p:txBody>
      </p:sp>
      <p:sp>
        <p:nvSpPr>
          <p:cNvPr id="17" name="Text 12"/>
          <p:cNvSpPr txBox="1"/>
          <p:nvPr/>
        </p:nvSpPr>
        <p:spPr>
          <a:xfrm>
            <a:off x="1874520" y="4572000"/>
            <a:ext cx="3840480" cy="1005840"/>
          </a:xfrm>
          <a:prstGeom prst="rect">
            <a:avLst/>
          </a:prstGeom>
          <a:noFill/>
          <a:ln/>
        </p:spPr>
        <p:txBody>
          <a:bodyPr wrap="square" lIns="0" tIns="0" rIns="0" bIns="0" rtlCol="0" anchor="t"/>
          <a:lstStyle/>
          <a:p>
            <a:pPr indent="0" marL="0">
              <a:buNone/>
            </a:pPr>
            <a:r>
              <a:rPr lang="en-US" sz="1500" dirty="0">
                <a:solidFill>
                  <a:schemeClr val="tx2"/>
                </a:solidFill>
              </a:rPr>
              <a:t>An alert says “abnormal” but not why, so doctors and patients don’t trust it.</a:t>
            </a:r>
            <a:endParaRPr lang="en-US" sz="1500" dirty="0"/>
          </a:p>
        </p:txBody>
      </p:sp>
      <p:sp>
        <p:nvSpPr>
          <p:cNvPr id="18" name="card"/>
          <p:cNvSpPr/>
          <p:nvPr/>
        </p:nvSpPr>
        <p:spPr>
          <a:xfrm>
            <a:off x="6172200" y="3749040"/>
            <a:ext cx="544068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icon circle"/>
          <p:cNvSpPr/>
          <p:nvPr/>
        </p:nvSpPr>
        <p:spPr>
          <a:xfrm>
            <a:off x="6492240" y="4069080"/>
            <a:ext cx="777240" cy="777240"/>
          </a:xfrm>
          <a:prstGeom prst="ellipse">
            <a:avLst/>
          </a:prstGeom>
          <a:solidFill>
            <a:schemeClr val="accent6"/>
          </a:solidFill>
          <a:ln w="12700">
            <a:solidFill>
              <a:schemeClr val="accent6"/>
            </a:solidFill>
            <a:prstDash val="solid"/>
          </a:ln>
        </p:spPr>
      </p:sp>
      <p:pic>
        <p:nvPicPr>
          <p:cNvPr id="20" name="icon" descr="preencoded.png">    </p:cNvPr>
          <p:cNvPicPr>
            <a:picLocks noChangeAspect="1"/>
          </p:cNvPicPr>
          <p:nvPr/>
        </p:nvPicPr>
        <p:blipFill>
          <a:blip r:embed="rId4"/>
          <a:stretch>
            <a:fillRect/>
          </a:stretch>
        </p:blipFill>
        <p:spPr>
          <a:xfrm>
            <a:off x="6686550" y="4263390"/>
            <a:ext cx="388620" cy="388620"/>
          </a:xfrm>
          <a:prstGeom prst="rect">
            <a:avLst/>
          </a:prstGeom>
        </p:spPr>
      </p:pic>
      <p:sp>
        <p:nvSpPr>
          <p:cNvPr id="21" name="Text 15"/>
          <p:cNvSpPr txBox="1"/>
          <p:nvPr/>
        </p:nvSpPr>
        <p:spPr>
          <a:xfrm>
            <a:off x="7498080" y="4069080"/>
            <a:ext cx="3840480" cy="457200"/>
          </a:xfrm>
          <a:prstGeom prst="rect">
            <a:avLst/>
          </a:prstGeom>
          <a:noFill/>
          <a:ln/>
        </p:spPr>
        <p:txBody>
          <a:bodyPr wrap="square" lIns="0" tIns="0" rIns="0" bIns="0" rtlCol="0" anchor="ctr"/>
          <a:lstStyle/>
          <a:p>
            <a:pPr indent="0" marL="0">
              <a:buNone/>
            </a:pPr>
            <a:r>
              <a:rPr lang="en-US" sz="2000" b="1" dirty="0">
                <a:solidFill>
                  <a:schemeClr val="tx1"/>
                </a:solidFill>
              </a:rPr>
              <a:t>Bad sensor data</a:t>
            </a:r>
            <a:endParaRPr lang="en-US" sz="2000" dirty="0"/>
          </a:p>
        </p:txBody>
      </p:sp>
      <p:sp>
        <p:nvSpPr>
          <p:cNvPr id="22" name="Text 16"/>
          <p:cNvSpPr txBox="1"/>
          <p:nvPr/>
        </p:nvSpPr>
        <p:spPr>
          <a:xfrm>
            <a:off x="7498080" y="4572000"/>
            <a:ext cx="3840480" cy="1005840"/>
          </a:xfrm>
          <a:prstGeom prst="rect">
            <a:avLst/>
          </a:prstGeom>
          <a:noFill/>
          <a:ln/>
        </p:spPr>
        <p:txBody>
          <a:bodyPr wrap="square" lIns="0" tIns="0" rIns="0" bIns="0" rtlCol="0" anchor="t"/>
          <a:lstStyle/>
          <a:p>
            <a:pPr indent="0" marL="0">
              <a:buNone/>
            </a:pPr>
            <a:r>
              <a:rPr lang="en-US" sz="1500" dirty="0">
                <a:solidFill>
                  <a:schemeClr val="tx2"/>
                </a:solidFill>
              </a:rPr>
              <a:t>A loose band or movement looks like a medical problem.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Our solution: PulseOS with AdaptAlert</a:t>
            </a:r>
            <a:endParaRPr lang="en-US" sz="3600" dirty="0"/>
          </a:p>
        </p:txBody>
      </p:sp>
      <p:sp>
        <p:nvSpPr>
          <p:cNvPr id="3" name="icon circle"/>
          <p:cNvSpPr/>
          <p:nvPr/>
        </p:nvSpPr>
        <p:spPr>
          <a:xfrm>
            <a:off x="548640" y="1417320"/>
            <a:ext cx="548640" cy="548640"/>
          </a:xfrm>
          <a:prstGeom prst="ellipse">
            <a:avLst/>
          </a:prstGeom>
          <a:solidFill>
            <a:schemeClr val="accent3"/>
          </a:solidFill>
          <a:ln w="12700">
            <a:solidFill>
              <a:schemeClr val="accent3"/>
            </a:solidFill>
            <a:prstDash val="solid"/>
          </a:ln>
        </p:spPr>
      </p:sp>
      <p:pic>
        <p:nvPicPr>
          <p:cNvPr id="4" name="icon" descr="preencoded.png">    </p:cNvPr>
          <p:cNvPicPr>
            <a:picLocks noChangeAspect="1"/>
          </p:cNvPicPr>
          <p:nvPr/>
        </p:nvPicPr>
        <p:blipFill>
          <a:blip r:embed="rId1"/>
          <a:stretch>
            <a:fillRect/>
          </a:stretch>
        </p:blipFill>
        <p:spPr>
          <a:xfrm>
            <a:off x="685800" y="1554480"/>
            <a:ext cx="274320" cy="274320"/>
          </a:xfrm>
          <a:prstGeom prst="rect">
            <a:avLst/>
          </a:prstGeom>
        </p:spPr>
      </p:pic>
      <p:sp>
        <p:nvSpPr>
          <p:cNvPr id="5" name="Text 2"/>
          <p:cNvSpPr txBox="1"/>
          <p:nvPr/>
        </p:nvSpPr>
        <p:spPr>
          <a:xfrm>
            <a:off x="1280160" y="1371600"/>
            <a:ext cx="5120640" cy="411480"/>
          </a:xfrm>
          <a:prstGeom prst="rect">
            <a:avLst/>
          </a:prstGeom>
          <a:noFill/>
          <a:ln/>
        </p:spPr>
        <p:txBody>
          <a:bodyPr wrap="square" lIns="0" tIns="0" rIns="0" bIns="0" rtlCol="0" anchor="ctr"/>
          <a:lstStyle/>
          <a:p>
            <a:pPr indent="0" marL="0">
              <a:buNone/>
            </a:pPr>
            <a:r>
              <a:rPr lang="en-US" sz="2000" b="1" dirty="0">
                <a:solidFill>
                  <a:schemeClr val="tx1"/>
                </a:solidFill>
              </a:rPr>
              <a:t>Learns each patient’s normal</a:t>
            </a:r>
            <a:endParaRPr lang="en-US" sz="2000" dirty="0"/>
          </a:p>
        </p:txBody>
      </p:sp>
      <p:sp>
        <p:nvSpPr>
          <p:cNvPr id="6" name="Text 3"/>
          <p:cNvSpPr txBox="1"/>
          <p:nvPr/>
        </p:nvSpPr>
        <p:spPr>
          <a:xfrm>
            <a:off x="1280160" y="1783080"/>
            <a:ext cx="5120640" cy="548640"/>
          </a:xfrm>
          <a:prstGeom prst="rect">
            <a:avLst/>
          </a:prstGeom>
          <a:noFill/>
          <a:ln/>
        </p:spPr>
        <p:txBody>
          <a:bodyPr wrap="square" lIns="0" tIns="0" rIns="0" bIns="0" rtlCol="0" anchor="t"/>
          <a:lstStyle/>
          <a:p>
            <a:pPr indent="0" marL="0">
              <a:buNone/>
            </a:pPr>
            <a:r>
              <a:rPr lang="en-US" sz="1500" dirty="0">
                <a:solidFill>
                  <a:schemeClr val="tx2"/>
                </a:solidFill>
              </a:rPr>
              <a:t>For each activity: resting, light activity, active, cooling down</a:t>
            </a:r>
            <a:endParaRPr lang="en-US" sz="1500" dirty="0"/>
          </a:p>
        </p:txBody>
      </p:sp>
      <p:sp>
        <p:nvSpPr>
          <p:cNvPr id="7" name="icon circle"/>
          <p:cNvSpPr/>
          <p:nvPr/>
        </p:nvSpPr>
        <p:spPr>
          <a:xfrm>
            <a:off x="548640" y="2560320"/>
            <a:ext cx="548640" cy="548640"/>
          </a:xfrm>
          <a:prstGeom prst="ellipse">
            <a:avLst/>
          </a:prstGeom>
          <a:solidFill>
            <a:schemeClr val="accent3"/>
          </a:solidFill>
          <a:ln w="12700">
            <a:solidFill>
              <a:schemeClr val="accent3"/>
            </a:solidFill>
            <a:prstDash val="solid"/>
          </a:ln>
        </p:spPr>
      </p:sp>
      <p:pic>
        <p:nvPicPr>
          <p:cNvPr id="8" name="icon" descr="preencoded.png">    </p:cNvPr>
          <p:cNvPicPr>
            <a:picLocks noChangeAspect="1"/>
          </p:cNvPicPr>
          <p:nvPr/>
        </p:nvPicPr>
        <p:blipFill>
          <a:blip r:embed="rId2"/>
          <a:stretch>
            <a:fillRect/>
          </a:stretch>
        </p:blipFill>
        <p:spPr>
          <a:xfrm>
            <a:off x="685800" y="2697480"/>
            <a:ext cx="274320" cy="274320"/>
          </a:xfrm>
          <a:prstGeom prst="rect">
            <a:avLst/>
          </a:prstGeom>
        </p:spPr>
      </p:pic>
      <p:sp>
        <p:nvSpPr>
          <p:cNvPr id="9" name="Text 5"/>
          <p:cNvSpPr txBox="1"/>
          <p:nvPr/>
        </p:nvSpPr>
        <p:spPr>
          <a:xfrm>
            <a:off x="1280160" y="2514600"/>
            <a:ext cx="5120640" cy="411480"/>
          </a:xfrm>
          <a:prstGeom prst="rect">
            <a:avLst/>
          </a:prstGeom>
          <a:noFill/>
          <a:ln/>
        </p:spPr>
        <p:txBody>
          <a:bodyPr wrap="square" lIns="0" tIns="0" rIns="0" bIns="0" rtlCol="0" anchor="ctr"/>
          <a:lstStyle/>
          <a:p>
            <a:pPr indent="0" marL="0">
              <a:buNone/>
            </a:pPr>
            <a:r>
              <a:rPr lang="en-US" sz="2000" b="1" dirty="0">
                <a:solidFill>
                  <a:schemeClr val="tx1"/>
                </a:solidFill>
              </a:rPr>
              <a:t>Explains every alert</a:t>
            </a:r>
            <a:endParaRPr lang="en-US" sz="2000" dirty="0"/>
          </a:p>
        </p:txBody>
      </p:sp>
      <p:sp>
        <p:nvSpPr>
          <p:cNvPr id="10" name="Text 6"/>
          <p:cNvSpPr txBox="1"/>
          <p:nvPr/>
        </p:nvSpPr>
        <p:spPr>
          <a:xfrm>
            <a:off x="1280160" y="2926080"/>
            <a:ext cx="5120640" cy="548640"/>
          </a:xfrm>
          <a:prstGeom prst="rect">
            <a:avLst/>
          </a:prstGeom>
          <a:noFill/>
          <a:ln/>
        </p:spPr>
        <p:txBody>
          <a:bodyPr wrap="square" lIns="0" tIns="0" rIns="0" bIns="0" rtlCol="0" anchor="t"/>
          <a:lstStyle/>
          <a:p>
            <a:pPr indent="0" marL="0">
              <a:buNone/>
            </a:pPr>
            <a:r>
              <a:rPr lang="en-US" sz="1500" dirty="0">
                <a:solidFill>
                  <a:schemeClr val="tx2"/>
                </a:solidFill>
              </a:rPr>
              <a:t>Plain-language reasons, how sure it is, and what would change the decision</a:t>
            </a:r>
            <a:endParaRPr lang="en-US" sz="1500" dirty="0"/>
          </a:p>
        </p:txBody>
      </p:sp>
      <p:sp>
        <p:nvSpPr>
          <p:cNvPr id="11" name="icon circle"/>
          <p:cNvSpPr/>
          <p:nvPr/>
        </p:nvSpPr>
        <p:spPr>
          <a:xfrm>
            <a:off x="548640" y="3703320"/>
            <a:ext cx="548640" cy="548640"/>
          </a:xfrm>
          <a:prstGeom prst="ellipse">
            <a:avLst/>
          </a:prstGeom>
          <a:solidFill>
            <a:schemeClr val="accent3"/>
          </a:solidFill>
          <a:ln w="12700">
            <a:solidFill>
              <a:schemeClr val="accent3"/>
            </a:solidFill>
            <a:prstDash val="solid"/>
          </a:ln>
        </p:spPr>
      </p:sp>
      <p:pic>
        <p:nvPicPr>
          <p:cNvPr id="12" name="icon" descr="preencoded.png">    </p:cNvPr>
          <p:cNvPicPr>
            <a:picLocks noChangeAspect="1"/>
          </p:cNvPicPr>
          <p:nvPr/>
        </p:nvPicPr>
        <p:blipFill>
          <a:blip r:embed="rId3"/>
          <a:stretch>
            <a:fillRect/>
          </a:stretch>
        </p:blipFill>
        <p:spPr>
          <a:xfrm>
            <a:off x="685800" y="3840480"/>
            <a:ext cx="274320" cy="274320"/>
          </a:xfrm>
          <a:prstGeom prst="rect">
            <a:avLst/>
          </a:prstGeom>
        </p:spPr>
      </p:pic>
      <p:sp>
        <p:nvSpPr>
          <p:cNvPr id="13" name="Text 8"/>
          <p:cNvSpPr txBox="1"/>
          <p:nvPr/>
        </p:nvSpPr>
        <p:spPr>
          <a:xfrm>
            <a:off x="1280160" y="3657600"/>
            <a:ext cx="5120640" cy="411480"/>
          </a:xfrm>
          <a:prstGeom prst="rect">
            <a:avLst/>
          </a:prstGeom>
          <a:noFill/>
          <a:ln/>
        </p:spPr>
        <p:txBody>
          <a:bodyPr wrap="square" lIns="0" tIns="0" rIns="0" bIns="0" rtlCol="0" anchor="ctr"/>
          <a:lstStyle/>
          <a:p>
            <a:pPr indent="0" marL="0">
              <a:buNone/>
            </a:pPr>
            <a:r>
              <a:rPr lang="en-US" sz="2000" b="1" dirty="0">
                <a:solidFill>
                  <a:schemeClr val="tx1"/>
                </a:solidFill>
              </a:rPr>
              <a:t>Learns from feedback</a:t>
            </a:r>
            <a:endParaRPr lang="en-US" sz="2000" dirty="0"/>
          </a:p>
        </p:txBody>
      </p:sp>
      <p:sp>
        <p:nvSpPr>
          <p:cNvPr id="14" name="Text 9"/>
          <p:cNvSpPr txBox="1"/>
          <p:nvPr/>
        </p:nvSpPr>
        <p:spPr>
          <a:xfrm>
            <a:off x="1280160" y="4069080"/>
            <a:ext cx="5120640" cy="548640"/>
          </a:xfrm>
          <a:prstGeom prst="rect">
            <a:avLst/>
          </a:prstGeom>
          <a:noFill/>
          <a:ln/>
        </p:spPr>
        <p:txBody>
          <a:bodyPr wrap="square" lIns="0" tIns="0" rIns="0" bIns="0" rtlCol="0" anchor="t"/>
          <a:lstStyle/>
          <a:p>
            <a:pPr indent="0" marL="0">
              <a:buNone/>
            </a:pPr>
            <a:r>
              <a:rPr lang="en-US" sz="1500" dirty="0">
                <a:solidFill>
                  <a:schemeClr val="tx2"/>
                </a:solidFill>
              </a:rPr>
              <a:t>“I was walking” from the patient, “false alarm” or “real” from the doctor</a:t>
            </a:r>
            <a:endParaRPr lang="en-US" sz="1500" dirty="0"/>
          </a:p>
        </p:txBody>
      </p:sp>
      <p:sp>
        <p:nvSpPr>
          <p:cNvPr id="15" name="icon circle"/>
          <p:cNvSpPr/>
          <p:nvPr/>
        </p:nvSpPr>
        <p:spPr>
          <a:xfrm>
            <a:off x="548640" y="4846320"/>
            <a:ext cx="548640" cy="548640"/>
          </a:xfrm>
          <a:prstGeom prst="ellipse">
            <a:avLst/>
          </a:prstGeom>
          <a:solidFill>
            <a:schemeClr val="accent3"/>
          </a:solidFill>
          <a:ln w="12700">
            <a:solidFill>
              <a:schemeClr val="accent3"/>
            </a:solidFill>
            <a:prstDash val="solid"/>
          </a:ln>
        </p:spPr>
      </p:sp>
      <p:pic>
        <p:nvPicPr>
          <p:cNvPr id="16" name="icon" descr="preencoded.png">    </p:cNvPr>
          <p:cNvPicPr>
            <a:picLocks noChangeAspect="1"/>
          </p:cNvPicPr>
          <p:nvPr/>
        </p:nvPicPr>
        <p:blipFill>
          <a:blip r:embed="rId4"/>
          <a:stretch>
            <a:fillRect/>
          </a:stretch>
        </p:blipFill>
        <p:spPr>
          <a:xfrm>
            <a:off x="685800" y="4983480"/>
            <a:ext cx="274320" cy="274320"/>
          </a:xfrm>
          <a:prstGeom prst="rect">
            <a:avLst/>
          </a:prstGeom>
        </p:spPr>
      </p:pic>
      <p:sp>
        <p:nvSpPr>
          <p:cNvPr id="17" name="Text 11"/>
          <p:cNvSpPr txBox="1"/>
          <p:nvPr/>
        </p:nvSpPr>
        <p:spPr>
          <a:xfrm>
            <a:off x="1280160" y="4800600"/>
            <a:ext cx="5120640" cy="411480"/>
          </a:xfrm>
          <a:prstGeom prst="rect">
            <a:avLst/>
          </a:prstGeom>
          <a:noFill/>
          <a:ln/>
        </p:spPr>
        <p:txBody>
          <a:bodyPr wrap="square" lIns="0" tIns="0" rIns="0" bIns="0" rtlCol="0" anchor="ctr"/>
          <a:lstStyle/>
          <a:p>
            <a:pPr indent="0" marL="0">
              <a:buNone/>
            </a:pPr>
            <a:r>
              <a:rPr lang="en-US" sz="2000" b="1" dirty="0">
                <a:solidFill>
                  <a:schemeClr val="tx1"/>
                </a:solidFill>
              </a:rPr>
              <a:t>Never ignores danger</a:t>
            </a:r>
            <a:endParaRPr lang="en-US" sz="2000" dirty="0"/>
          </a:p>
        </p:txBody>
      </p:sp>
      <p:sp>
        <p:nvSpPr>
          <p:cNvPr id="18" name="Text 12"/>
          <p:cNvSpPr txBox="1"/>
          <p:nvPr/>
        </p:nvSpPr>
        <p:spPr>
          <a:xfrm>
            <a:off x="1280160" y="5212080"/>
            <a:ext cx="5120640" cy="548640"/>
          </a:xfrm>
          <a:prstGeom prst="rect">
            <a:avLst/>
          </a:prstGeom>
          <a:noFill/>
          <a:ln/>
        </p:spPr>
        <p:txBody>
          <a:bodyPr wrap="square" lIns="0" tIns="0" rIns="0" bIns="0" rtlCol="0" anchor="t"/>
          <a:lstStyle/>
          <a:p>
            <a:pPr indent="0" marL="0">
              <a:buNone/>
            </a:pPr>
            <a:r>
              <a:rPr lang="en-US" sz="1500" dirty="0">
                <a:solidFill>
                  <a:schemeClr val="tx2"/>
                </a:solidFill>
              </a:rPr>
              <a:t>A safety floor and bounded learning keep critical readings alerting</a:t>
            </a:r>
            <a:endParaRPr lang="en-US" sz="1500" dirty="0"/>
          </a:p>
        </p:txBody>
      </p:sp>
      <p:pic>
        <p:nvPicPr>
          <p:cNvPr id="19" name="Patient Today screen" descr="/tmp/claude-0/-home-user/de3ee737-ae14-5b09-8745-a5aca720b665/scratchpad/c-today-after-me.png">    </p:cNvPr>
          <p:cNvPicPr>
            <a:picLocks noChangeAspect="1"/>
          </p:cNvPicPr>
          <p:nvPr/>
        </p:nvPicPr>
        <p:blipFill>
          <a:blip r:embed="rId5"/>
          <a:srcRect l="0" r="0" t="0" b="0"/>
          <a:stretch/>
        </p:blipFill>
        <p:spPr>
          <a:xfrm>
            <a:off x="7406640" y="1188720"/>
            <a:ext cx="2331720" cy="5029200"/>
          </a:xfrm>
          <a:prstGeom prst="rect">
            <a:avLst/>
          </a:prstGeom>
        </p:spPr>
      </p:pic>
      <p:pic>
        <p:nvPicPr>
          <p:cNvPr id="20" name="Patient Today screen in Hindi" descr="/tmp/claude-0/-home-user/de3ee737-ae14-5b09-8745-a5aca720b665/scratchpad/pdf/patient-hi.png">    </p:cNvPr>
          <p:cNvPicPr>
            <a:picLocks noChangeAspect="1"/>
          </p:cNvPicPr>
          <p:nvPr/>
        </p:nvPicPr>
        <p:blipFill>
          <a:blip r:embed="rId6"/>
          <a:srcRect l="0" r="0" t="0" b="0"/>
          <a:stretch/>
        </p:blipFill>
        <p:spPr>
          <a:xfrm>
            <a:off x="9921240" y="1188720"/>
            <a:ext cx="1828800" cy="50292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How AdaptAlert decides: a 7-stage pipeline</a:t>
            </a:r>
            <a:endParaRPr lang="en-US" sz="3600" dirty="0"/>
          </a:p>
        </p:txBody>
      </p:sp>
      <p:sp>
        <p:nvSpPr>
          <p:cNvPr id="3" name="Text 1"/>
          <p:cNvSpPr txBox="1"/>
          <p:nvPr/>
        </p:nvSpPr>
        <p:spPr>
          <a:xfrm>
            <a:off x="548640" y="1234440"/>
            <a:ext cx="11064240" cy="457200"/>
          </a:xfrm>
          <a:prstGeom prst="rect">
            <a:avLst/>
          </a:prstGeom>
          <a:noFill/>
          <a:ln/>
        </p:spPr>
        <p:txBody>
          <a:bodyPr wrap="square" lIns="0" tIns="0" rIns="0" bIns="0" rtlCol="0" anchor="ctr"/>
          <a:lstStyle/>
          <a:p>
            <a:pPr indent="0" marL="0">
              <a:buNone/>
            </a:pPr>
            <a:r>
              <a:rPr lang="en-US" sz="1600" dirty="0">
                <a:solidFill>
                  <a:schemeClr val="tx2"/>
                </a:solidFill>
              </a:rPr>
              <a:t>Every minute the wrist band sends heart rate, oxygen (SpO₂), temperature and movement. Each reading goes through:</a:t>
            </a:r>
            <a:endParaRPr lang="en-US" sz="1600" dirty="0"/>
          </a:p>
        </p:txBody>
      </p:sp>
      <p:sp>
        <p:nvSpPr>
          <p:cNvPr id="4" name="stage A"/>
          <p:cNvSpPr/>
          <p:nvPr/>
        </p:nvSpPr>
        <p:spPr>
          <a:xfrm>
            <a:off x="548640" y="1965960"/>
            <a:ext cx="1463040" cy="3291840"/>
          </a:xfrm>
          <a:prstGeom prst="roundRect">
            <a:avLst>
              <a:gd name="adj" fmla="val 7500"/>
            </a:avLst>
          </a:prstGeom>
          <a:solidFill>
            <a:schemeClr val="accent2"/>
          </a:solidFill>
          <a:ln w="12700">
            <a:solidFill>
              <a:schemeClr val="accent2"/>
            </a:solidFill>
            <a:prstDash val="solid"/>
          </a:ln>
        </p:spPr>
      </p:sp>
      <p:sp>
        <p:nvSpPr>
          <p:cNvPr id="5" name="Text 3"/>
          <p:cNvSpPr txBox="1"/>
          <p:nvPr/>
        </p:nvSpPr>
        <p:spPr>
          <a:xfrm>
            <a:off x="685800" y="2103120"/>
            <a:ext cx="1188720" cy="640080"/>
          </a:xfrm>
          <a:prstGeom prst="rect">
            <a:avLst/>
          </a:prstGeom>
          <a:noFill/>
          <a:ln/>
        </p:spPr>
        <p:txBody>
          <a:bodyPr wrap="square" lIns="0" tIns="0" rIns="0" bIns="0" rtlCol="0" anchor="ctr"/>
          <a:lstStyle/>
          <a:p>
            <a:pPr indent="0" marL="0">
              <a:buNone/>
            </a:pPr>
            <a:r>
              <a:rPr lang="en-US" sz="3600" b="1" dirty="0">
                <a:solidFill>
                  <a:schemeClr val="bg1"/>
                </a:solidFill>
              </a:rPr>
              <a:t>A</a:t>
            </a:r>
            <a:endParaRPr lang="en-US" sz="3600" dirty="0"/>
          </a:p>
        </p:txBody>
      </p:sp>
      <p:sp>
        <p:nvSpPr>
          <p:cNvPr id="6" name="Text 4"/>
          <p:cNvSpPr txBox="1"/>
          <p:nvPr/>
        </p:nvSpPr>
        <p:spPr>
          <a:xfrm>
            <a:off x="685800" y="2743200"/>
            <a:ext cx="1188720" cy="685800"/>
          </a:xfrm>
          <a:prstGeom prst="rect">
            <a:avLst/>
          </a:prstGeom>
          <a:noFill/>
          <a:ln/>
        </p:spPr>
        <p:txBody>
          <a:bodyPr wrap="square" lIns="0" tIns="0" rIns="0" bIns="0" rtlCol="0" anchor="t"/>
          <a:lstStyle/>
          <a:p>
            <a:pPr indent="0" marL="0">
              <a:buNone/>
            </a:pPr>
            <a:r>
              <a:rPr lang="en-US" sz="1600" b="1" dirty="0">
                <a:solidFill>
                  <a:schemeClr val="bg1"/>
                </a:solidFill>
              </a:rPr>
              <a:t>Signal quality</a:t>
            </a:r>
            <a:endParaRPr lang="en-US" sz="1600" dirty="0"/>
          </a:p>
        </p:txBody>
      </p:sp>
      <p:sp>
        <p:nvSpPr>
          <p:cNvPr id="7" name="Text 5"/>
          <p:cNvSpPr txBox="1"/>
          <p:nvPr/>
        </p:nvSpPr>
        <p:spPr>
          <a:xfrm>
            <a:off x="685800" y="3474720"/>
            <a:ext cx="1188720" cy="1645920"/>
          </a:xfrm>
          <a:prstGeom prst="rect">
            <a:avLst/>
          </a:prstGeom>
          <a:noFill/>
          <a:ln/>
        </p:spPr>
        <p:txBody>
          <a:bodyPr wrap="square" lIns="0" tIns="0" rIns="0" bIns="0" rtlCol="0" anchor="t"/>
          <a:lstStyle/>
          <a:p>
            <a:pPr indent="0" marL="0">
              <a:buNone/>
            </a:pPr>
            <a:r>
              <a:rPr lang="en-US" sz="1400" dirty="0">
                <a:solidFill>
                  <a:schemeClr val="bg1"/>
                </a:solidFill>
              </a:rPr>
              <a:t>Loose band or motion? The reading is ignored</a:t>
            </a:r>
            <a:endParaRPr lang="en-US" sz="1400" dirty="0"/>
          </a:p>
        </p:txBody>
      </p:sp>
      <p:sp>
        <p:nvSpPr>
          <p:cNvPr id="8" name="stage B"/>
          <p:cNvSpPr/>
          <p:nvPr/>
        </p:nvSpPr>
        <p:spPr>
          <a:xfrm>
            <a:off x="2142439" y="1965960"/>
            <a:ext cx="1463040" cy="3291840"/>
          </a:xfrm>
          <a:prstGeom prst="roundRect">
            <a:avLst>
              <a:gd name="adj" fmla="val 7500"/>
            </a:avLst>
          </a:prstGeom>
          <a:solidFill>
            <a:schemeClr val="accent5"/>
          </a:solidFill>
          <a:ln w="12700">
            <a:solidFill>
              <a:schemeClr val="accent5"/>
            </a:solidFill>
            <a:prstDash val="solid"/>
          </a:ln>
        </p:spPr>
      </p:sp>
      <p:sp>
        <p:nvSpPr>
          <p:cNvPr id="9" name="Text 7"/>
          <p:cNvSpPr txBox="1"/>
          <p:nvPr/>
        </p:nvSpPr>
        <p:spPr>
          <a:xfrm>
            <a:off x="2279599" y="2103120"/>
            <a:ext cx="1188720" cy="640080"/>
          </a:xfrm>
          <a:prstGeom prst="rect">
            <a:avLst/>
          </a:prstGeom>
          <a:noFill/>
          <a:ln/>
        </p:spPr>
        <p:txBody>
          <a:bodyPr wrap="square" lIns="0" tIns="0" rIns="0" bIns="0" rtlCol="0" anchor="ctr"/>
          <a:lstStyle/>
          <a:p>
            <a:pPr indent="0" marL="0">
              <a:buNone/>
            </a:pPr>
            <a:r>
              <a:rPr lang="en-US" sz="3600" b="1" dirty="0">
                <a:solidFill>
                  <a:schemeClr val="bg1"/>
                </a:solidFill>
              </a:rPr>
              <a:t>B</a:t>
            </a:r>
            <a:endParaRPr lang="en-US" sz="3600" dirty="0"/>
          </a:p>
        </p:txBody>
      </p:sp>
      <p:sp>
        <p:nvSpPr>
          <p:cNvPr id="10" name="Text 8"/>
          <p:cNvSpPr txBox="1"/>
          <p:nvPr/>
        </p:nvSpPr>
        <p:spPr>
          <a:xfrm>
            <a:off x="2279599" y="2743200"/>
            <a:ext cx="1188720" cy="685800"/>
          </a:xfrm>
          <a:prstGeom prst="rect">
            <a:avLst/>
          </a:prstGeom>
          <a:noFill/>
          <a:ln/>
        </p:spPr>
        <p:txBody>
          <a:bodyPr wrap="square" lIns="0" tIns="0" rIns="0" bIns="0" rtlCol="0" anchor="t"/>
          <a:lstStyle/>
          <a:p>
            <a:pPr indent="0" marL="0">
              <a:buNone/>
            </a:pPr>
            <a:r>
              <a:rPr lang="en-US" sz="1600" b="1" dirty="0">
                <a:solidFill>
                  <a:schemeClr val="bg1"/>
                </a:solidFill>
              </a:rPr>
              <a:t>Activity</a:t>
            </a:r>
            <a:endParaRPr lang="en-US" sz="1600" dirty="0"/>
          </a:p>
        </p:txBody>
      </p:sp>
      <p:sp>
        <p:nvSpPr>
          <p:cNvPr id="11" name="Text 9"/>
          <p:cNvSpPr txBox="1"/>
          <p:nvPr/>
        </p:nvSpPr>
        <p:spPr>
          <a:xfrm>
            <a:off x="2279599" y="3474720"/>
            <a:ext cx="1188720" cy="1645920"/>
          </a:xfrm>
          <a:prstGeom prst="rect">
            <a:avLst/>
          </a:prstGeom>
          <a:noFill/>
          <a:ln/>
        </p:spPr>
        <p:txBody>
          <a:bodyPr wrap="square" lIns="0" tIns="0" rIns="0" bIns="0" rtlCol="0" anchor="t"/>
          <a:lstStyle/>
          <a:p>
            <a:pPr indent="0" marL="0">
              <a:buNone/>
            </a:pPr>
            <a:r>
              <a:rPr lang="en-US" sz="1400" dirty="0">
                <a:solidFill>
                  <a:schemeClr val="bg1"/>
                </a:solidFill>
              </a:rPr>
              <a:t>Resting, light, active or cooling down</a:t>
            </a:r>
            <a:endParaRPr lang="en-US" sz="1400" dirty="0"/>
          </a:p>
        </p:txBody>
      </p:sp>
      <p:sp>
        <p:nvSpPr>
          <p:cNvPr id="12" name="stage C"/>
          <p:cNvSpPr/>
          <p:nvPr/>
        </p:nvSpPr>
        <p:spPr>
          <a:xfrm>
            <a:off x="3736238" y="1965960"/>
            <a:ext cx="1463040" cy="3291840"/>
          </a:xfrm>
          <a:prstGeom prst="roundRect">
            <a:avLst>
              <a:gd name="adj" fmla="val 7500"/>
            </a:avLst>
          </a:prstGeom>
          <a:solidFill>
            <a:schemeClr val="accent6"/>
          </a:solidFill>
          <a:ln w="12700">
            <a:solidFill>
              <a:schemeClr val="accent6"/>
            </a:solidFill>
            <a:prstDash val="solid"/>
          </a:ln>
        </p:spPr>
      </p:sp>
      <p:sp>
        <p:nvSpPr>
          <p:cNvPr id="13" name="Text 11"/>
          <p:cNvSpPr txBox="1"/>
          <p:nvPr/>
        </p:nvSpPr>
        <p:spPr>
          <a:xfrm>
            <a:off x="3873398" y="2103120"/>
            <a:ext cx="1188720" cy="640080"/>
          </a:xfrm>
          <a:prstGeom prst="rect">
            <a:avLst/>
          </a:prstGeom>
          <a:noFill/>
          <a:ln/>
        </p:spPr>
        <p:txBody>
          <a:bodyPr wrap="square" lIns="0" tIns="0" rIns="0" bIns="0" rtlCol="0" anchor="ctr"/>
          <a:lstStyle/>
          <a:p>
            <a:pPr indent="0" marL="0">
              <a:buNone/>
            </a:pPr>
            <a:r>
              <a:rPr lang="en-US" sz="3600" b="1" dirty="0">
                <a:solidFill>
                  <a:schemeClr val="bg1"/>
                </a:solidFill>
              </a:rPr>
              <a:t>C</a:t>
            </a:r>
            <a:endParaRPr lang="en-US" sz="3600" dirty="0"/>
          </a:p>
        </p:txBody>
      </p:sp>
      <p:sp>
        <p:nvSpPr>
          <p:cNvPr id="14" name="Text 12"/>
          <p:cNvSpPr txBox="1"/>
          <p:nvPr/>
        </p:nvSpPr>
        <p:spPr>
          <a:xfrm>
            <a:off x="3873398" y="2743200"/>
            <a:ext cx="1188720" cy="685800"/>
          </a:xfrm>
          <a:prstGeom prst="rect">
            <a:avLst/>
          </a:prstGeom>
          <a:noFill/>
          <a:ln/>
        </p:spPr>
        <p:txBody>
          <a:bodyPr wrap="square" lIns="0" tIns="0" rIns="0" bIns="0" rtlCol="0" anchor="t"/>
          <a:lstStyle/>
          <a:p>
            <a:pPr indent="0" marL="0">
              <a:buNone/>
            </a:pPr>
            <a:r>
              <a:rPr lang="en-US" sz="1600" b="1" dirty="0">
                <a:solidFill>
                  <a:schemeClr val="bg1"/>
                </a:solidFill>
              </a:rPr>
              <a:t>Personal normal</a:t>
            </a:r>
            <a:endParaRPr lang="en-US" sz="1600" dirty="0"/>
          </a:p>
        </p:txBody>
      </p:sp>
      <p:sp>
        <p:nvSpPr>
          <p:cNvPr id="15" name="Text 13"/>
          <p:cNvSpPr txBox="1"/>
          <p:nvPr/>
        </p:nvSpPr>
        <p:spPr>
          <a:xfrm>
            <a:off x="3873398" y="3474720"/>
            <a:ext cx="1188720" cy="1645920"/>
          </a:xfrm>
          <a:prstGeom prst="rect">
            <a:avLst/>
          </a:prstGeom>
          <a:noFill/>
          <a:ln/>
        </p:spPr>
        <p:txBody>
          <a:bodyPr wrap="square" lIns="0" tIns="0" rIns="0" bIns="0" rtlCol="0" anchor="t"/>
          <a:lstStyle/>
          <a:p>
            <a:pPr indent="0" marL="0">
              <a:buNone/>
            </a:pPr>
            <a:r>
              <a:rPr lang="en-US" sz="1400" dirty="0">
                <a:solidFill>
                  <a:schemeClr val="bg1"/>
                </a:solidFill>
              </a:rPr>
              <a:t>Average and spread for this person and activity</a:t>
            </a:r>
            <a:endParaRPr lang="en-US" sz="1400" dirty="0"/>
          </a:p>
        </p:txBody>
      </p:sp>
      <p:sp>
        <p:nvSpPr>
          <p:cNvPr id="16" name="stage D"/>
          <p:cNvSpPr/>
          <p:nvPr/>
        </p:nvSpPr>
        <p:spPr>
          <a:xfrm>
            <a:off x="5330038" y="1965960"/>
            <a:ext cx="1463040" cy="3291840"/>
          </a:xfrm>
          <a:prstGeom prst="roundRect">
            <a:avLst>
              <a:gd name="adj" fmla="val 7500"/>
            </a:avLst>
          </a:prstGeom>
          <a:solidFill>
            <a:schemeClr val="accent1"/>
          </a:solidFill>
          <a:ln w="12700">
            <a:solidFill>
              <a:schemeClr val="accent1"/>
            </a:solidFill>
            <a:prstDash val="solid"/>
          </a:ln>
        </p:spPr>
      </p:sp>
      <p:sp>
        <p:nvSpPr>
          <p:cNvPr id="17" name="Text 15"/>
          <p:cNvSpPr txBox="1"/>
          <p:nvPr/>
        </p:nvSpPr>
        <p:spPr>
          <a:xfrm>
            <a:off x="5467198" y="2103120"/>
            <a:ext cx="1188720" cy="640080"/>
          </a:xfrm>
          <a:prstGeom prst="rect">
            <a:avLst/>
          </a:prstGeom>
          <a:noFill/>
          <a:ln/>
        </p:spPr>
        <p:txBody>
          <a:bodyPr wrap="square" lIns="0" tIns="0" rIns="0" bIns="0" rtlCol="0" anchor="ctr"/>
          <a:lstStyle/>
          <a:p>
            <a:pPr indent="0" marL="0">
              <a:buNone/>
            </a:pPr>
            <a:r>
              <a:rPr lang="en-US" sz="3600" b="1" dirty="0">
                <a:solidFill>
                  <a:schemeClr val="bg1"/>
                </a:solidFill>
              </a:rPr>
              <a:t>D</a:t>
            </a:r>
            <a:endParaRPr lang="en-US" sz="3600" dirty="0"/>
          </a:p>
        </p:txBody>
      </p:sp>
      <p:sp>
        <p:nvSpPr>
          <p:cNvPr id="18" name="Text 16"/>
          <p:cNvSpPr txBox="1"/>
          <p:nvPr/>
        </p:nvSpPr>
        <p:spPr>
          <a:xfrm>
            <a:off x="5467198" y="2743200"/>
            <a:ext cx="1188720" cy="685800"/>
          </a:xfrm>
          <a:prstGeom prst="rect">
            <a:avLst/>
          </a:prstGeom>
          <a:noFill/>
          <a:ln/>
        </p:spPr>
        <p:txBody>
          <a:bodyPr wrap="square" lIns="0" tIns="0" rIns="0" bIns="0" rtlCol="0" anchor="t"/>
          <a:lstStyle/>
          <a:p>
            <a:pPr indent="0" marL="0">
              <a:buNone/>
            </a:pPr>
            <a:r>
              <a:rPr lang="en-US" sz="1600" b="1" dirty="0">
                <a:solidFill>
                  <a:schemeClr val="bg1"/>
                </a:solidFill>
              </a:rPr>
              <a:t>Safety floor</a:t>
            </a:r>
            <a:endParaRPr lang="en-US" sz="1600" dirty="0"/>
          </a:p>
        </p:txBody>
      </p:sp>
      <p:sp>
        <p:nvSpPr>
          <p:cNvPr id="19" name="Text 17"/>
          <p:cNvSpPr txBox="1"/>
          <p:nvPr/>
        </p:nvSpPr>
        <p:spPr>
          <a:xfrm>
            <a:off x="5467198" y="3474720"/>
            <a:ext cx="1188720" cy="1645920"/>
          </a:xfrm>
          <a:prstGeom prst="rect">
            <a:avLst/>
          </a:prstGeom>
          <a:noFill/>
          <a:ln/>
        </p:spPr>
        <p:txBody>
          <a:bodyPr wrap="square" lIns="0" tIns="0" rIns="0" bIns="0" rtlCol="0" anchor="t"/>
          <a:lstStyle/>
          <a:p>
            <a:pPr indent="0" marL="0">
              <a:buNone/>
            </a:pPr>
            <a:r>
              <a:rPr lang="en-US" sz="1400" dirty="0">
                <a:solidFill>
                  <a:schemeClr val="bg1"/>
                </a:solidFill>
              </a:rPr>
              <a:t>e.g. SpO₂ ≤ 90% → critical alert, no AI needed</a:t>
            </a:r>
            <a:endParaRPr lang="en-US" sz="1400" dirty="0"/>
          </a:p>
        </p:txBody>
      </p:sp>
      <p:sp>
        <p:nvSpPr>
          <p:cNvPr id="20" name="stage E"/>
          <p:cNvSpPr/>
          <p:nvPr/>
        </p:nvSpPr>
        <p:spPr>
          <a:xfrm>
            <a:off x="6923837" y="1965960"/>
            <a:ext cx="1463040" cy="3291840"/>
          </a:xfrm>
          <a:prstGeom prst="roundRect">
            <a:avLst>
              <a:gd name="adj" fmla="val 7500"/>
            </a:avLst>
          </a:prstGeom>
          <a:solidFill>
            <a:schemeClr val="accent4"/>
          </a:solidFill>
          <a:ln w="12700">
            <a:solidFill>
              <a:schemeClr val="accent4"/>
            </a:solidFill>
            <a:prstDash val="solid"/>
          </a:ln>
        </p:spPr>
      </p:sp>
      <p:sp>
        <p:nvSpPr>
          <p:cNvPr id="21" name="Text 19"/>
          <p:cNvSpPr txBox="1"/>
          <p:nvPr/>
        </p:nvSpPr>
        <p:spPr>
          <a:xfrm>
            <a:off x="7060997" y="2103120"/>
            <a:ext cx="1188720" cy="640080"/>
          </a:xfrm>
          <a:prstGeom prst="rect">
            <a:avLst/>
          </a:prstGeom>
          <a:noFill/>
          <a:ln/>
        </p:spPr>
        <p:txBody>
          <a:bodyPr wrap="square" lIns="0" tIns="0" rIns="0" bIns="0" rtlCol="0" anchor="ctr"/>
          <a:lstStyle/>
          <a:p>
            <a:pPr indent="0" marL="0">
              <a:buNone/>
            </a:pPr>
            <a:r>
              <a:rPr lang="en-US" sz="3600" b="1" dirty="0">
                <a:solidFill>
                  <a:schemeClr val="bg1"/>
                </a:solidFill>
              </a:rPr>
              <a:t>E</a:t>
            </a:r>
            <a:endParaRPr lang="en-US" sz="3600" dirty="0"/>
          </a:p>
        </p:txBody>
      </p:sp>
      <p:sp>
        <p:nvSpPr>
          <p:cNvPr id="22" name="Text 20"/>
          <p:cNvSpPr txBox="1"/>
          <p:nvPr/>
        </p:nvSpPr>
        <p:spPr>
          <a:xfrm>
            <a:off x="7060997" y="2743200"/>
            <a:ext cx="1188720" cy="685800"/>
          </a:xfrm>
          <a:prstGeom prst="rect">
            <a:avLst/>
          </a:prstGeom>
          <a:noFill/>
          <a:ln/>
        </p:spPr>
        <p:txBody>
          <a:bodyPr wrap="square" lIns="0" tIns="0" rIns="0" bIns="0" rtlCol="0" anchor="t"/>
          <a:lstStyle/>
          <a:p>
            <a:pPr indent="0" marL="0">
              <a:buNone/>
            </a:pPr>
            <a:r>
              <a:rPr lang="en-US" sz="1600" b="1" dirty="0">
                <a:solidFill>
                  <a:schemeClr val="bg1"/>
                </a:solidFill>
              </a:rPr>
              <a:t>Anomaly</a:t>
            </a:r>
            <a:endParaRPr lang="en-US" sz="1600" dirty="0"/>
          </a:p>
        </p:txBody>
      </p:sp>
      <p:sp>
        <p:nvSpPr>
          <p:cNvPr id="23" name="Text 21"/>
          <p:cNvSpPr txBox="1"/>
          <p:nvPr/>
        </p:nvSpPr>
        <p:spPr>
          <a:xfrm>
            <a:off x="7060997" y="3474720"/>
            <a:ext cx="1188720" cy="1645920"/>
          </a:xfrm>
          <a:prstGeom prst="rect">
            <a:avLst/>
          </a:prstGeom>
          <a:noFill/>
          <a:ln/>
        </p:spPr>
        <p:txBody>
          <a:bodyPr wrap="square" lIns="0" tIns="0" rIns="0" bIns="0" rtlCol="0" anchor="t"/>
          <a:lstStyle/>
          <a:p>
            <a:pPr indent="0" marL="0">
              <a:buNone/>
            </a:pPr>
            <a:r>
              <a:rPr lang="en-US" sz="1400" dirty="0">
                <a:solidFill>
                  <a:schemeClr val="bg1"/>
                </a:solidFill>
              </a:rPr>
              <a:t>Unusual for this person for 3+ minutes</a:t>
            </a:r>
            <a:endParaRPr lang="en-US" sz="1400" dirty="0"/>
          </a:p>
        </p:txBody>
      </p:sp>
      <p:sp>
        <p:nvSpPr>
          <p:cNvPr id="24" name="stage F"/>
          <p:cNvSpPr/>
          <p:nvPr/>
        </p:nvSpPr>
        <p:spPr>
          <a:xfrm>
            <a:off x="8517636" y="1965960"/>
            <a:ext cx="1463040" cy="3291840"/>
          </a:xfrm>
          <a:prstGeom prst="roundRect">
            <a:avLst>
              <a:gd name="adj" fmla="val 7500"/>
            </a:avLst>
          </a:prstGeom>
          <a:solidFill>
            <a:schemeClr val="accent2"/>
          </a:solidFill>
          <a:ln w="12700">
            <a:solidFill>
              <a:schemeClr val="accent2"/>
            </a:solidFill>
            <a:prstDash val="solid"/>
          </a:ln>
        </p:spPr>
      </p:sp>
      <p:sp>
        <p:nvSpPr>
          <p:cNvPr id="25" name="Text 23"/>
          <p:cNvSpPr txBox="1"/>
          <p:nvPr/>
        </p:nvSpPr>
        <p:spPr>
          <a:xfrm>
            <a:off x="8654796" y="2103120"/>
            <a:ext cx="1188720" cy="640080"/>
          </a:xfrm>
          <a:prstGeom prst="rect">
            <a:avLst/>
          </a:prstGeom>
          <a:noFill/>
          <a:ln/>
        </p:spPr>
        <p:txBody>
          <a:bodyPr wrap="square" lIns="0" tIns="0" rIns="0" bIns="0" rtlCol="0" anchor="ctr"/>
          <a:lstStyle/>
          <a:p>
            <a:pPr indent="0" marL="0">
              <a:buNone/>
            </a:pPr>
            <a:r>
              <a:rPr lang="en-US" sz="3600" b="1" dirty="0">
                <a:solidFill>
                  <a:schemeClr val="bg1"/>
                </a:solidFill>
              </a:rPr>
              <a:t>F</a:t>
            </a:r>
            <a:endParaRPr lang="en-US" sz="3600" dirty="0"/>
          </a:p>
        </p:txBody>
      </p:sp>
      <p:sp>
        <p:nvSpPr>
          <p:cNvPr id="26" name="Text 24"/>
          <p:cNvSpPr txBox="1"/>
          <p:nvPr/>
        </p:nvSpPr>
        <p:spPr>
          <a:xfrm>
            <a:off x="8654796" y="2743200"/>
            <a:ext cx="1188720" cy="685800"/>
          </a:xfrm>
          <a:prstGeom prst="rect">
            <a:avLst/>
          </a:prstGeom>
          <a:noFill/>
          <a:ln/>
        </p:spPr>
        <p:txBody>
          <a:bodyPr wrap="square" lIns="0" tIns="0" rIns="0" bIns="0" rtlCol="0" anchor="t"/>
          <a:lstStyle/>
          <a:p>
            <a:pPr indent="0" marL="0">
              <a:buNone/>
            </a:pPr>
            <a:r>
              <a:rPr lang="en-US" sz="1600" b="1" dirty="0">
                <a:solidFill>
                  <a:schemeClr val="bg1"/>
                </a:solidFill>
              </a:rPr>
              <a:t>Decide</a:t>
            </a:r>
            <a:endParaRPr lang="en-US" sz="1600" dirty="0"/>
          </a:p>
        </p:txBody>
      </p:sp>
      <p:sp>
        <p:nvSpPr>
          <p:cNvPr id="27" name="Text 25"/>
          <p:cNvSpPr txBox="1"/>
          <p:nvPr/>
        </p:nvSpPr>
        <p:spPr>
          <a:xfrm>
            <a:off x="8654796" y="3474720"/>
            <a:ext cx="1188720" cy="1645920"/>
          </a:xfrm>
          <a:prstGeom prst="rect">
            <a:avLst/>
          </a:prstGeom>
          <a:noFill/>
          <a:ln/>
        </p:spPr>
        <p:txBody>
          <a:bodyPr wrap="square" lIns="0" tIns="0" rIns="0" bIns="0" rtlCol="0" anchor="t"/>
          <a:lstStyle/>
          <a:p>
            <a:pPr indent="0" marL="0">
              <a:buNone/>
            </a:pPr>
            <a:r>
              <a:rPr lang="en-US" sz="1400" dirty="0">
                <a:solidFill>
                  <a:schemeClr val="bg1"/>
                </a:solidFill>
              </a:rPr>
              <a:t>Model + this person’s history vs threshold τ</a:t>
            </a:r>
            <a:endParaRPr lang="en-US" sz="1400" dirty="0"/>
          </a:p>
        </p:txBody>
      </p:sp>
      <p:sp>
        <p:nvSpPr>
          <p:cNvPr id="28" name="stage G"/>
          <p:cNvSpPr/>
          <p:nvPr/>
        </p:nvSpPr>
        <p:spPr>
          <a:xfrm>
            <a:off x="10111435" y="1965960"/>
            <a:ext cx="1463040" cy="3291840"/>
          </a:xfrm>
          <a:prstGeom prst="roundRect">
            <a:avLst>
              <a:gd name="adj" fmla="val 7500"/>
            </a:avLst>
          </a:prstGeom>
          <a:solidFill>
            <a:schemeClr val="accent3"/>
          </a:solidFill>
          <a:ln w="12700">
            <a:solidFill>
              <a:schemeClr val="accent3"/>
            </a:solidFill>
            <a:prstDash val="solid"/>
          </a:ln>
        </p:spPr>
      </p:sp>
      <p:sp>
        <p:nvSpPr>
          <p:cNvPr id="29" name="Text 27"/>
          <p:cNvSpPr txBox="1"/>
          <p:nvPr/>
        </p:nvSpPr>
        <p:spPr>
          <a:xfrm>
            <a:off x="10248595" y="2103120"/>
            <a:ext cx="1188720" cy="640080"/>
          </a:xfrm>
          <a:prstGeom prst="rect">
            <a:avLst/>
          </a:prstGeom>
          <a:noFill/>
          <a:ln/>
        </p:spPr>
        <p:txBody>
          <a:bodyPr wrap="square" lIns="0" tIns="0" rIns="0" bIns="0" rtlCol="0" anchor="ctr"/>
          <a:lstStyle/>
          <a:p>
            <a:pPr indent="0" marL="0">
              <a:buNone/>
            </a:pPr>
            <a:r>
              <a:rPr lang="en-US" sz="3600" b="1" dirty="0">
                <a:solidFill>
                  <a:schemeClr val="bg1"/>
                </a:solidFill>
              </a:rPr>
              <a:t>G</a:t>
            </a:r>
            <a:endParaRPr lang="en-US" sz="3600" dirty="0"/>
          </a:p>
        </p:txBody>
      </p:sp>
      <p:sp>
        <p:nvSpPr>
          <p:cNvPr id="30" name="Text 28"/>
          <p:cNvSpPr txBox="1"/>
          <p:nvPr/>
        </p:nvSpPr>
        <p:spPr>
          <a:xfrm>
            <a:off x="10248595" y="2743200"/>
            <a:ext cx="1188720" cy="685800"/>
          </a:xfrm>
          <a:prstGeom prst="rect">
            <a:avLst/>
          </a:prstGeom>
          <a:noFill/>
          <a:ln/>
        </p:spPr>
        <p:txBody>
          <a:bodyPr wrap="square" lIns="0" tIns="0" rIns="0" bIns="0" rtlCol="0" anchor="t"/>
          <a:lstStyle/>
          <a:p>
            <a:pPr indent="0" marL="0">
              <a:buNone/>
            </a:pPr>
            <a:r>
              <a:rPr lang="en-US" sz="1600" b="1" dirty="0">
                <a:solidFill>
                  <a:schemeClr val="bg1"/>
                </a:solidFill>
              </a:rPr>
              <a:t>Explain</a:t>
            </a:r>
            <a:endParaRPr lang="en-US" sz="1600" dirty="0"/>
          </a:p>
        </p:txBody>
      </p:sp>
      <p:sp>
        <p:nvSpPr>
          <p:cNvPr id="31" name="Text 29"/>
          <p:cNvSpPr txBox="1"/>
          <p:nvPr/>
        </p:nvSpPr>
        <p:spPr>
          <a:xfrm>
            <a:off x="10248595" y="3474720"/>
            <a:ext cx="1188720" cy="1645920"/>
          </a:xfrm>
          <a:prstGeom prst="rect">
            <a:avLst/>
          </a:prstGeom>
          <a:noFill/>
          <a:ln/>
        </p:spPr>
        <p:txBody>
          <a:bodyPr wrap="square" lIns="0" tIns="0" rIns="0" bIns="0" rtlCol="0" anchor="t"/>
          <a:lstStyle/>
          <a:p>
            <a:pPr indent="0" marL="0">
              <a:buNone/>
            </a:pPr>
            <a:r>
              <a:rPr lang="en-US" sz="1400" dirty="0">
                <a:solidFill>
                  <a:schemeClr val="bg1"/>
                </a:solidFill>
              </a:rPr>
              <a:t>Reasons, confidence, what would change it</a:t>
            </a:r>
            <a:endParaRPr lang="en-US" sz="1400" dirty="0"/>
          </a:p>
        </p:txBody>
      </p:sp>
      <p:sp>
        <p:nvSpPr>
          <p:cNvPr id="32" name="Text 30"/>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1600" b="1" dirty="0">
                <a:solidFill>
                  <a:schemeClr val="accent1"/>
                </a:solidFill>
              </a:rPr>
              <a:t>Key idea: </a:t>
            </a:r>
            <a:pPr indent="0" marL="0">
              <a:buNone/>
            </a:pPr>
            <a:r>
              <a:rPr lang="en-US" sz="1600" dirty="0">
                <a:solidFill>
                  <a:schemeClr val="tx1"/>
                </a:solidFill>
              </a:rPr>
              <a:t>the safety floor (D) works without the AI, so learning can never switch off a critical alert.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The learning rule</a:t>
            </a:r>
            <a:endParaRPr lang="en-US" sz="3600" dirty="0"/>
          </a:p>
        </p:txBody>
      </p:sp>
      <p:sp>
        <p:nvSpPr>
          <p:cNvPr id="3" name="card"/>
          <p:cNvSpPr/>
          <p:nvPr/>
        </p:nvSpPr>
        <p:spPr>
          <a:xfrm>
            <a:off x="548640" y="1280160"/>
            <a:ext cx="11064240" cy="1097280"/>
          </a:xfrm>
          <a:prstGeom prst="roundRect">
            <a:avLst>
              <a:gd name="adj" fmla="val 10000"/>
            </a:avLst>
          </a:prstGeom>
          <a:solidFill>
            <a:schemeClr val="tx1"/>
          </a:solidFill>
          <a:ln w="12700">
            <a:solidFill>
              <a:schemeClr val="tx1"/>
            </a:solidFill>
            <a:prstDash val="solid"/>
          </a:ln>
        </p:spPr>
      </p:sp>
      <p:sp>
        <p:nvSpPr>
          <p:cNvPr id="4" name="Text 2"/>
          <p:cNvSpPr txBox="1"/>
          <p:nvPr/>
        </p:nvSpPr>
        <p:spPr>
          <a:xfrm>
            <a:off x="822960" y="1280160"/>
            <a:ext cx="10515600" cy="109728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P(real) = (1−w)·P_model + w·P_you  ·  w = n/(n+4)  ·  alert if P(real) ≥ τ</a:t>
            </a:r>
            <a:endParaRPr lang="en-US" sz="1800" dirty="0"/>
          </a:p>
        </p:txBody>
      </p:sp>
      <p:sp>
        <p:nvSpPr>
          <p:cNvPr id="5" name="card"/>
          <p:cNvSpPr/>
          <p:nvPr/>
        </p:nvSpPr>
        <p:spPr>
          <a:xfrm>
            <a:off x="548640" y="2697480"/>
            <a:ext cx="3566160" cy="27432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22960" y="2880360"/>
            <a:ext cx="3017520" cy="502920"/>
          </a:xfrm>
          <a:prstGeom prst="rect">
            <a:avLst/>
          </a:prstGeom>
          <a:noFill/>
          <a:ln/>
        </p:spPr>
        <p:txBody>
          <a:bodyPr wrap="square" lIns="0" tIns="0" rIns="0" bIns="0" rtlCol="0" anchor="ctr"/>
          <a:lstStyle/>
          <a:p>
            <a:pPr indent="0" marL="0">
              <a:buNone/>
            </a:pPr>
            <a:r>
              <a:rPr lang="en-US" sz="2200" b="1" dirty="0">
                <a:solidFill>
                  <a:schemeClr val="accent5"/>
                </a:solidFill>
              </a:rPr>
              <a:t>P_model</a:t>
            </a:r>
            <a:endParaRPr lang="en-US" sz="2200" dirty="0"/>
          </a:p>
        </p:txBody>
      </p:sp>
      <p:sp>
        <p:nvSpPr>
          <p:cNvPr id="7" name="Text 5"/>
          <p:cNvSpPr txBox="1"/>
          <p:nvPr/>
        </p:nvSpPr>
        <p:spPr>
          <a:xfrm>
            <a:off x="822960" y="3429000"/>
            <a:ext cx="3017520" cy="1874520"/>
          </a:xfrm>
          <a:prstGeom prst="rect">
            <a:avLst/>
          </a:prstGeom>
          <a:noFill/>
          <a:ln/>
        </p:spPr>
        <p:txBody>
          <a:bodyPr wrap="square" lIns="0" tIns="0" rIns="0" bIns="0" rtlCol="0" anchor="t"/>
          <a:lstStyle/>
          <a:p>
            <a:pPr indent="0" marL="0">
              <a:buNone/>
            </a:pPr>
            <a:r>
              <a:rPr lang="en-US" sz="1500" dirty="0">
                <a:solidFill>
                  <a:schemeClr val="tx1"/>
                </a:solidFill>
              </a:rPr>
              <a:t>Decision tree built from clinical reasoning: how many vitals are abnormal, how far from normal, activity, time of day.</a:t>
            </a:r>
            <a:endParaRPr lang="en-US" sz="1500" dirty="0"/>
          </a:p>
        </p:txBody>
      </p:sp>
      <p:sp>
        <p:nvSpPr>
          <p:cNvPr id="8" name="card"/>
          <p:cNvSpPr/>
          <p:nvPr/>
        </p:nvSpPr>
        <p:spPr>
          <a:xfrm>
            <a:off x="4297680" y="2697480"/>
            <a:ext cx="3566160" cy="27432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4572000" y="2880360"/>
            <a:ext cx="3017520" cy="502920"/>
          </a:xfrm>
          <a:prstGeom prst="rect">
            <a:avLst/>
          </a:prstGeom>
          <a:noFill/>
          <a:ln/>
        </p:spPr>
        <p:txBody>
          <a:bodyPr wrap="square" lIns="0" tIns="0" rIns="0" bIns="0" rtlCol="0" anchor="ctr"/>
          <a:lstStyle/>
          <a:p>
            <a:pPr indent="0" marL="0">
              <a:buNone/>
            </a:pPr>
            <a:r>
              <a:rPr lang="en-US" sz="2200" b="1" dirty="0">
                <a:solidFill>
                  <a:schemeClr val="accent2"/>
                </a:solidFill>
              </a:rPr>
              <a:t>P_you</a:t>
            </a:r>
            <a:endParaRPr lang="en-US" sz="2200" dirty="0"/>
          </a:p>
        </p:txBody>
      </p:sp>
      <p:sp>
        <p:nvSpPr>
          <p:cNvPr id="10" name="Text 8"/>
          <p:cNvSpPr txBox="1"/>
          <p:nvPr/>
        </p:nvSpPr>
        <p:spPr>
          <a:xfrm>
            <a:off x="4572000" y="3429000"/>
            <a:ext cx="3017520" cy="1874520"/>
          </a:xfrm>
          <a:prstGeom prst="rect">
            <a:avLst/>
          </a:prstGeom>
          <a:noFill/>
          <a:ln/>
        </p:spPr>
        <p:txBody>
          <a:bodyPr wrap="square" lIns="0" tIns="0" rIns="0" bIns="0" rtlCol="0" anchor="t"/>
          <a:lstStyle/>
          <a:p>
            <a:pPr indent="0" marL="0">
              <a:buNone/>
            </a:pPr>
            <a:r>
              <a:rPr lang="en-US" sz="1500" dirty="0">
                <a:solidFill>
                  <a:schemeClr val="tx1"/>
                </a:solidFill>
              </a:rPr>
              <a:t>How often this same pattern was really a problem for this patient, from their and the doctor’s answers. More answers (n) → more weight.</a:t>
            </a:r>
            <a:endParaRPr lang="en-US" sz="1500" dirty="0"/>
          </a:p>
        </p:txBody>
      </p:sp>
      <p:sp>
        <p:nvSpPr>
          <p:cNvPr id="11" name="card"/>
          <p:cNvSpPr/>
          <p:nvPr/>
        </p:nvSpPr>
        <p:spPr>
          <a:xfrm>
            <a:off x="8046720" y="2697480"/>
            <a:ext cx="3566160" cy="27432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8321040" y="2880360"/>
            <a:ext cx="3017520" cy="502920"/>
          </a:xfrm>
          <a:prstGeom prst="rect">
            <a:avLst/>
          </a:prstGeom>
          <a:noFill/>
          <a:ln/>
        </p:spPr>
        <p:txBody>
          <a:bodyPr wrap="square" lIns="0" tIns="0" rIns="0" bIns="0" rtlCol="0" anchor="ctr"/>
          <a:lstStyle/>
          <a:p>
            <a:pPr indent="0" marL="0">
              <a:buNone/>
            </a:pPr>
            <a:r>
              <a:rPr lang="en-US" sz="2200" b="1" dirty="0">
                <a:solidFill>
                  <a:schemeClr val="accent1"/>
                </a:solidFill>
              </a:rPr>
              <a:t>τ (sensitivity)</a:t>
            </a:r>
            <a:endParaRPr lang="en-US" sz="2200" dirty="0"/>
          </a:p>
        </p:txBody>
      </p:sp>
      <p:sp>
        <p:nvSpPr>
          <p:cNvPr id="13" name="Text 11"/>
          <p:cNvSpPr txBox="1"/>
          <p:nvPr/>
        </p:nvSpPr>
        <p:spPr>
          <a:xfrm>
            <a:off x="8321040" y="3429000"/>
            <a:ext cx="3017520" cy="1874520"/>
          </a:xfrm>
          <a:prstGeom prst="rect">
            <a:avLst/>
          </a:prstGeom>
          <a:noFill/>
          <a:ln/>
        </p:spPr>
        <p:txBody>
          <a:bodyPr wrap="square" lIns="0" tIns="0" rIns="0" bIns="0" rtlCol="0" anchor="t"/>
          <a:lstStyle/>
          <a:p>
            <a:pPr indent="0" marL="0">
              <a:buNone/>
            </a:pPr>
            <a:r>
              <a:rPr lang="en-US" sz="1500" dirty="0">
                <a:solidFill>
                  <a:schemeClr val="tx1"/>
                </a:solidFill>
              </a:rPr>
              <a:t>Personal threshold. “False alarm” from the doctor raises it a little; “real” lowers it more. Kept between 30% and 75%, moves at most 10 points a week.</a:t>
            </a:r>
            <a:endParaRPr lang="en-US" sz="1500" dirty="0"/>
          </a:p>
        </p:txBody>
      </p:sp>
      <p:sp>
        <p:nvSpPr>
          <p:cNvPr id="14" name="Text 12"/>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500" i="1" dirty="0">
                <a:solidFill>
                  <a:schemeClr val="tx2"/>
                </a:solidFill>
              </a:rPr>
              <a:t>Alerts that fall below τ are held back, not deleted: the patient and doctor can still see them, and anything worse alerts at once.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Every alert explains itself</a:t>
            </a:r>
            <a:endParaRPr lang="en-US" sz="3600" dirty="0"/>
          </a:p>
        </p:txBody>
      </p:sp>
      <p:pic>
        <p:nvPicPr>
          <p:cNvPr id="3" name="Alerts screen" descr="/tmp/claude-0/-home-user/de3ee737-ae14-5b09-8745-a5aca720b665/scratchpad/pdf/alerts.png">    </p:cNvPr>
          <p:cNvPicPr>
            <a:picLocks noChangeAspect="1"/>
          </p:cNvPicPr>
          <p:nvPr/>
        </p:nvPicPr>
        <p:blipFill>
          <a:blip r:embed="rId1"/>
          <a:srcRect l="0" r="0" t="0" b="0"/>
          <a:stretch/>
        </p:blipFill>
        <p:spPr>
          <a:xfrm>
            <a:off x="548640" y="1188720"/>
            <a:ext cx="2377440" cy="5074920"/>
          </a:xfrm>
          <a:prstGeom prst="rect">
            <a:avLst/>
          </a:prstGeom>
        </p:spPr>
      </p:pic>
      <p:pic>
        <p:nvPicPr>
          <p:cNvPr id="4" name="Help assistant" descr="/tmp/claude-0/-home-user/de3ee737-ae14-5b09-8745-a5aca720b665/scratchpad/pdf/help.png">    </p:cNvPr>
          <p:cNvPicPr>
            <a:picLocks noChangeAspect="1"/>
          </p:cNvPicPr>
          <p:nvPr/>
        </p:nvPicPr>
        <p:blipFill>
          <a:blip r:embed="rId2"/>
          <a:srcRect l="0" r="0" t="0" b="0"/>
          <a:stretch/>
        </p:blipFill>
        <p:spPr>
          <a:xfrm>
            <a:off x="3108960" y="1188720"/>
            <a:ext cx="2377440" cy="5074920"/>
          </a:xfrm>
          <a:prstGeom prst="rect">
            <a:avLst/>
          </a:prstGeom>
        </p:spPr>
      </p:pic>
      <p:sp>
        <p:nvSpPr>
          <p:cNvPr id="5" name="Text 1"/>
          <p:cNvSpPr txBox="1"/>
          <p:nvPr/>
        </p:nvSpPr>
        <p:spPr>
          <a:xfrm>
            <a:off x="5943600" y="1234440"/>
            <a:ext cx="5669280" cy="365760"/>
          </a:xfrm>
          <a:prstGeom prst="rect">
            <a:avLst/>
          </a:prstGeom>
          <a:noFill/>
          <a:ln/>
        </p:spPr>
        <p:txBody>
          <a:bodyPr wrap="square" lIns="0" tIns="0" rIns="0" bIns="0" rtlCol="0" anchor="ctr"/>
          <a:lstStyle/>
          <a:p>
            <a:pPr indent="0" marL="0">
              <a:buNone/>
            </a:pPr>
            <a:r>
              <a:rPr lang="en-US" sz="1800" b="1" dirty="0">
                <a:solidFill>
                  <a:schemeClr val="accent2"/>
                </a:solidFill>
              </a:rPr>
              <a:t>Why</a:t>
            </a:r>
            <a:endParaRPr lang="en-US" sz="1800" dirty="0"/>
          </a:p>
        </p:txBody>
      </p:sp>
      <p:sp>
        <p:nvSpPr>
          <p:cNvPr id="6" name="Text 2"/>
          <p:cNvSpPr txBox="1"/>
          <p:nvPr/>
        </p:nvSpPr>
        <p:spPr>
          <a:xfrm>
            <a:off x="5943600" y="1600200"/>
            <a:ext cx="5669280" cy="548640"/>
          </a:xfrm>
          <a:prstGeom prst="rect">
            <a:avLst/>
          </a:prstGeom>
          <a:noFill/>
          <a:ln/>
        </p:spPr>
        <p:txBody>
          <a:bodyPr wrap="square" lIns="0" tIns="0" rIns="0" bIns="0" rtlCol="0" anchor="t"/>
          <a:lstStyle/>
          <a:p>
            <a:pPr indent="0" marL="0">
              <a:buNone/>
            </a:pPr>
            <a:r>
              <a:rPr lang="en-US" sz="1500" dirty="0">
                <a:solidFill>
                  <a:schemeClr val="tx1"/>
                </a:solidFill>
              </a:rPr>
              <a:t>“Heart rate 118, which is 3.1 SD above your resting normal, while you were resting.”</a:t>
            </a:r>
            <a:endParaRPr lang="en-US" sz="1500" dirty="0"/>
          </a:p>
        </p:txBody>
      </p:sp>
      <p:sp>
        <p:nvSpPr>
          <p:cNvPr id="7" name="Text 3"/>
          <p:cNvSpPr txBox="1"/>
          <p:nvPr/>
        </p:nvSpPr>
        <p:spPr>
          <a:xfrm>
            <a:off x="5943600" y="2212848"/>
            <a:ext cx="5669280" cy="365760"/>
          </a:xfrm>
          <a:prstGeom prst="rect">
            <a:avLst/>
          </a:prstGeom>
          <a:noFill/>
          <a:ln/>
        </p:spPr>
        <p:txBody>
          <a:bodyPr wrap="square" lIns="0" tIns="0" rIns="0" bIns="0" rtlCol="0" anchor="ctr"/>
          <a:lstStyle/>
          <a:p>
            <a:pPr indent="0" marL="0">
              <a:buNone/>
            </a:pPr>
            <a:r>
              <a:rPr lang="en-US" sz="1800" b="1" dirty="0">
                <a:solidFill>
                  <a:schemeClr val="accent2"/>
                </a:solidFill>
              </a:rPr>
              <a:t>How sure</a:t>
            </a:r>
            <a:endParaRPr lang="en-US" sz="1800" dirty="0"/>
          </a:p>
        </p:txBody>
      </p:sp>
      <p:sp>
        <p:nvSpPr>
          <p:cNvPr id="8" name="Text 4"/>
          <p:cNvSpPr txBox="1"/>
          <p:nvPr/>
        </p:nvSpPr>
        <p:spPr>
          <a:xfrm>
            <a:off x="5943600" y="2578608"/>
            <a:ext cx="5669280" cy="548640"/>
          </a:xfrm>
          <a:prstGeom prst="rect">
            <a:avLst/>
          </a:prstGeom>
          <a:noFill/>
          <a:ln/>
        </p:spPr>
        <p:txBody>
          <a:bodyPr wrap="square" lIns="0" tIns="0" rIns="0" bIns="0" rtlCol="0" anchor="t"/>
          <a:lstStyle/>
          <a:p>
            <a:pPr indent="0" marL="0">
              <a:buNone/>
            </a:pPr>
            <a:r>
              <a:rPr lang="en-US" sz="1500" dirty="0">
                <a:solidFill>
                  <a:schemeClr val="tx1"/>
                </a:solidFill>
              </a:rPr>
              <a:t>A likelihood with a 90% range, shown as model vs your history.</a:t>
            </a:r>
            <a:endParaRPr lang="en-US" sz="1500" dirty="0"/>
          </a:p>
        </p:txBody>
      </p:sp>
      <p:sp>
        <p:nvSpPr>
          <p:cNvPr id="9" name="Text 5"/>
          <p:cNvSpPr txBox="1"/>
          <p:nvPr/>
        </p:nvSpPr>
        <p:spPr>
          <a:xfrm>
            <a:off x="5943600" y="3191256"/>
            <a:ext cx="5669280" cy="365760"/>
          </a:xfrm>
          <a:prstGeom prst="rect">
            <a:avLst/>
          </a:prstGeom>
          <a:noFill/>
          <a:ln/>
        </p:spPr>
        <p:txBody>
          <a:bodyPr wrap="square" lIns="0" tIns="0" rIns="0" bIns="0" rtlCol="0" anchor="ctr"/>
          <a:lstStyle/>
          <a:p>
            <a:pPr indent="0" marL="0">
              <a:buNone/>
            </a:pPr>
            <a:r>
              <a:rPr lang="en-US" sz="1800" b="1" dirty="0">
                <a:solidFill>
                  <a:schemeClr val="accent2"/>
                </a:solidFill>
              </a:rPr>
              <a:t>What would change it</a:t>
            </a:r>
            <a:endParaRPr lang="en-US" sz="1800" dirty="0"/>
          </a:p>
        </p:txBody>
      </p:sp>
      <p:sp>
        <p:nvSpPr>
          <p:cNvPr id="10" name="Text 6"/>
          <p:cNvSpPr txBox="1"/>
          <p:nvPr/>
        </p:nvSpPr>
        <p:spPr>
          <a:xfrm>
            <a:off x="5943600" y="3557016"/>
            <a:ext cx="5669280" cy="548640"/>
          </a:xfrm>
          <a:prstGeom prst="rect">
            <a:avLst/>
          </a:prstGeom>
          <a:noFill/>
          <a:ln/>
        </p:spPr>
        <p:txBody>
          <a:bodyPr wrap="square" lIns="0" tIns="0" rIns="0" bIns="0" rtlCol="0" anchor="t"/>
          <a:lstStyle/>
          <a:p>
            <a:pPr indent="0" marL="0">
              <a:buNone/>
            </a:pPr>
            <a:r>
              <a:rPr lang="en-US" sz="1500" dirty="0">
                <a:solidFill>
                  <a:schemeClr val="tx1"/>
                </a:solidFill>
              </a:rPr>
              <a:t>“No alert below 104 bpm.” “If only heart rate had changed, it would be rated lower.”</a:t>
            </a:r>
            <a:endParaRPr lang="en-US" sz="1500" dirty="0"/>
          </a:p>
        </p:txBody>
      </p:sp>
      <p:sp>
        <p:nvSpPr>
          <p:cNvPr id="11" name="Text 7"/>
          <p:cNvSpPr txBox="1"/>
          <p:nvPr/>
        </p:nvSpPr>
        <p:spPr>
          <a:xfrm>
            <a:off x="5943600" y="4169664"/>
            <a:ext cx="5669280" cy="365760"/>
          </a:xfrm>
          <a:prstGeom prst="rect">
            <a:avLst/>
          </a:prstGeom>
          <a:noFill/>
          <a:ln/>
        </p:spPr>
        <p:txBody>
          <a:bodyPr wrap="square" lIns="0" tIns="0" rIns="0" bIns="0" rtlCol="0" anchor="ctr"/>
          <a:lstStyle/>
          <a:p>
            <a:pPr indent="0" marL="0">
              <a:buNone/>
            </a:pPr>
            <a:r>
              <a:rPr lang="en-US" sz="1800" b="1" dirty="0">
                <a:solidFill>
                  <a:schemeClr val="accent2"/>
                </a:solidFill>
              </a:rPr>
              <a:t>Who was told</a:t>
            </a:r>
            <a:endParaRPr lang="en-US" sz="1800" dirty="0"/>
          </a:p>
        </p:txBody>
      </p:sp>
      <p:sp>
        <p:nvSpPr>
          <p:cNvPr id="12" name="Text 8"/>
          <p:cNvSpPr txBox="1"/>
          <p:nvPr/>
        </p:nvSpPr>
        <p:spPr>
          <a:xfrm>
            <a:off x="5943600" y="4535424"/>
            <a:ext cx="5669280" cy="548640"/>
          </a:xfrm>
          <a:prstGeom prst="rect">
            <a:avLst/>
          </a:prstGeom>
          <a:noFill/>
          <a:ln/>
        </p:spPr>
        <p:txBody>
          <a:bodyPr wrap="square" lIns="0" tIns="0" rIns="0" bIns="0" rtlCol="0" anchor="t"/>
          <a:lstStyle/>
          <a:p>
            <a:pPr indent="0" marL="0">
              <a:buNone/>
            </a:pPr>
            <a:r>
              <a:rPr lang="en-US" sz="1500" dirty="0">
                <a:solidFill>
                  <a:schemeClr val="tx1"/>
                </a:solidFill>
              </a:rPr>
              <a:t>A timeline: patient, caregiver, doctor, SOS.</a:t>
            </a:r>
            <a:endParaRPr lang="en-US" sz="1500" dirty="0"/>
          </a:p>
        </p:txBody>
      </p:sp>
      <p:sp>
        <p:nvSpPr>
          <p:cNvPr id="13" name="Text 9"/>
          <p:cNvSpPr txBox="1"/>
          <p:nvPr/>
        </p:nvSpPr>
        <p:spPr>
          <a:xfrm>
            <a:off x="5943600" y="5148072"/>
            <a:ext cx="5669280" cy="365760"/>
          </a:xfrm>
          <a:prstGeom prst="rect">
            <a:avLst/>
          </a:prstGeom>
          <a:noFill/>
          <a:ln/>
        </p:spPr>
        <p:txBody>
          <a:bodyPr wrap="square" lIns="0" tIns="0" rIns="0" bIns="0" rtlCol="0" anchor="ctr"/>
          <a:lstStyle/>
          <a:p>
            <a:pPr indent="0" marL="0">
              <a:buNone/>
            </a:pPr>
            <a:r>
              <a:rPr lang="en-US" sz="1800" b="1" dirty="0">
                <a:solidFill>
                  <a:schemeClr val="accent2"/>
                </a:solidFill>
              </a:rPr>
              <a:t>Feedback</a:t>
            </a:r>
            <a:endParaRPr lang="en-US" sz="1800" dirty="0"/>
          </a:p>
        </p:txBody>
      </p:sp>
      <p:sp>
        <p:nvSpPr>
          <p:cNvPr id="14" name="Text 10"/>
          <p:cNvSpPr txBox="1"/>
          <p:nvPr/>
        </p:nvSpPr>
        <p:spPr>
          <a:xfrm>
            <a:off x="5943600" y="5513832"/>
            <a:ext cx="5669280" cy="548640"/>
          </a:xfrm>
          <a:prstGeom prst="rect">
            <a:avLst/>
          </a:prstGeom>
          <a:noFill/>
          <a:ln/>
        </p:spPr>
        <p:txBody>
          <a:bodyPr wrap="square" lIns="0" tIns="0" rIns="0" bIns="0" rtlCol="0" anchor="t"/>
          <a:lstStyle/>
          <a:p>
            <a:pPr indent="0" marL="0">
              <a:buNone/>
            </a:pPr>
            <a:r>
              <a:rPr lang="en-US" sz="1500" dirty="0">
                <a:solidFill>
                  <a:schemeClr val="tx1"/>
                </a:solidFill>
              </a:rPr>
              <a:t>Patient: I was active / sensor loose / I feel unwell. Doctor: real or false alarm.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Research gaps we address</a:t>
            </a:r>
            <a:endParaRPr lang="en-US" sz="3600" dirty="0"/>
          </a:p>
        </p:txBody>
      </p:sp>
      <p:sp>
        <p:nvSpPr>
          <p:cNvPr id="3" name="card"/>
          <p:cNvSpPr/>
          <p:nvPr/>
        </p:nvSpPr>
        <p:spPr>
          <a:xfrm>
            <a:off x="548640" y="1280160"/>
            <a:ext cx="356616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777240" y="1463040"/>
            <a:ext cx="731520" cy="457200"/>
          </a:xfrm>
          <a:prstGeom prst="rect">
            <a:avLst/>
          </a:prstGeom>
          <a:noFill/>
          <a:ln/>
        </p:spPr>
        <p:txBody>
          <a:bodyPr wrap="square" lIns="0" tIns="0" rIns="0" bIns="0" rtlCol="0" anchor="ctr"/>
          <a:lstStyle/>
          <a:p>
            <a:pPr indent="0" marL="0">
              <a:buNone/>
            </a:pPr>
            <a:r>
              <a:rPr lang="en-US" sz="2200" b="1" dirty="0">
                <a:solidFill>
                  <a:schemeClr val="accent1"/>
                </a:solidFill>
              </a:rPr>
              <a:t>G1</a:t>
            </a:r>
            <a:endParaRPr lang="en-US" sz="2200" dirty="0"/>
          </a:p>
        </p:txBody>
      </p:sp>
      <p:sp>
        <p:nvSpPr>
          <p:cNvPr id="5" name="Text 3"/>
          <p:cNvSpPr txBox="1"/>
          <p:nvPr/>
        </p:nvSpPr>
        <p:spPr>
          <a:xfrm>
            <a:off x="1463040" y="1463040"/>
            <a:ext cx="2514600" cy="502920"/>
          </a:xfrm>
          <a:prstGeom prst="rect">
            <a:avLst/>
          </a:prstGeom>
          <a:noFill/>
          <a:ln/>
        </p:spPr>
        <p:txBody>
          <a:bodyPr wrap="square" lIns="0" tIns="0" rIns="0" bIns="0" rtlCol="0" anchor="ctr"/>
          <a:lstStyle/>
          <a:p>
            <a:pPr indent="0" marL="0">
              <a:buNone/>
            </a:pPr>
            <a:r>
              <a:rPr lang="en-US" sz="1500" b="1" dirty="0">
                <a:solidFill>
                  <a:schemeClr val="tx1"/>
                </a:solidFill>
              </a:rPr>
              <a:t>One threshold for all</a:t>
            </a:r>
            <a:endParaRPr lang="en-US" sz="1500" dirty="0"/>
          </a:p>
        </p:txBody>
      </p:sp>
      <p:sp>
        <p:nvSpPr>
          <p:cNvPr id="6" name="Text 4"/>
          <p:cNvSpPr txBox="1"/>
          <p:nvPr/>
        </p:nvSpPr>
        <p:spPr>
          <a:xfrm>
            <a:off x="777240" y="2057400"/>
            <a:ext cx="3200400" cy="594360"/>
          </a:xfrm>
          <a:prstGeom prst="rect">
            <a:avLst/>
          </a:prstGeom>
          <a:noFill/>
          <a:ln/>
        </p:spPr>
        <p:txBody>
          <a:bodyPr wrap="square" lIns="0" tIns="0" rIns="0" bIns="0" rtlCol="0" anchor="t"/>
          <a:lstStyle/>
          <a:p>
            <a:pPr indent="0" marL="0">
              <a:buNone/>
            </a:pPr>
            <a:r>
              <a:rPr lang="en-US" sz="1400" dirty="0">
                <a:solidFill>
                  <a:schemeClr val="tx2"/>
                </a:solidFill>
              </a:rPr>
              <a:t>→ Personal normal per vital and activity</a:t>
            </a:r>
            <a:endParaRPr lang="en-US" sz="1400" dirty="0"/>
          </a:p>
        </p:txBody>
      </p:sp>
      <p:sp>
        <p:nvSpPr>
          <p:cNvPr id="7" name="card"/>
          <p:cNvSpPr/>
          <p:nvPr/>
        </p:nvSpPr>
        <p:spPr>
          <a:xfrm>
            <a:off x="4297680" y="1280160"/>
            <a:ext cx="356616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4526280" y="1463040"/>
            <a:ext cx="731520" cy="457200"/>
          </a:xfrm>
          <a:prstGeom prst="rect">
            <a:avLst/>
          </a:prstGeom>
          <a:noFill/>
          <a:ln/>
        </p:spPr>
        <p:txBody>
          <a:bodyPr wrap="square" lIns="0" tIns="0" rIns="0" bIns="0" rtlCol="0" anchor="ctr"/>
          <a:lstStyle/>
          <a:p>
            <a:pPr indent="0" marL="0">
              <a:buNone/>
            </a:pPr>
            <a:r>
              <a:rPr lang="en-US" sz="2200" b="1" dirty="0">
                <a:solidFill>
                  <a:schemeClr val="accent1"/>
                </a:solidFill>
              </a:rPr>
              <a:t>G2</a:t>
            </a:r>
            <a:endParaRPr lang="en-US" sz="2200" dirty="0"/>
          </a:p>
        </p:txBody>
      </p:sp>
      <p:sp>
        <p:nvSpPr>
          <p:cNvPr id="9" name="Text 7"/>
          <p:cNvSpPr txBox="1"/>
          <p:nvPr/>
        </p:nvSpPr>
        <p:spPr>
          <a:xfrm>
            <a:off x="5212080" y="1463040"/>
            <a:ext cx="2514600" cy="502920"/>
          </a:xfrm>
          <a:prstGeom prst="rect">
            <a:avLst/>
          </a:prstGeom>
          <a:noFill/>
          <a:ln/>
        </p:spPr>
        <p:txBody>
          <a:bodyPr wrap="square" lIns="0" tIns="0" rIns="0" bIns="0" rtlCol="0" anchor="ctr"/>
          <a:lstStyle/>
          <a:p>
            <a:pPr indent="0" marL="0">
              <a:buNone/>
            </a:pPr>
            <a:r>
              <a:rPr lang="en-US" sz="1500" b="1" dirty="0">
                <a:solidFill>
                  <a:schemeClr val="tx1"/>
                </a:solidFill>
              </a:rPr>
              <a:t>No learning after deployment</a:t>
            </a:r>
            <a:endParaRPr lang="en-US" sz="1500" dirty="0"/>
          </a:p>
        </p:txBody>
      </p:sp>
      <p:sp>
        <p:nvSpPr>
          <p:cNvPr id="10" name="Text 8"/>
          <p:cNvSpPr txBox="1"/>
          <p:nvPr/>
        </p:nvSpPr>
        <p:spPr>
          <a:xfrm>
            <a:off x="4526280" y="2057400"/>
            <a:ext cx="3200400" cy="594360"/>
          </a:xfrm>
          <a:prstGeom prst="rect">
            <a:avLst/>
          </a:prstGeom>
          <a:noFill/>
          <a:ln/>
        </p:spPr>
        <p:txBody>
          <a:bodyPr wrap="square" lIns="0" tIns="0" rIns="0" bIns="0" rtlCol="0" anchor="t"/>
          <a:lstStyle/>
          <a:p>
            <a:pPr indent="0" marL="0">
              <a:buNone/>
            </a:pPr>
            <a:r>
              <a:rPr lang="en-US" sz="1400" dirty="0">
                <a:solidFill>
                  <a:schemeClr val="tx2"/>
                </a:solidFill>
              </a:rPr>
              <a:t>→ Learns from patient and doctor feedback</a:t>
            </a:r>
            <a:endParaRPr lang="en-US" sz="1400" dirty="0"/>
          </a:p>
        </p:txBody>
      </p:sp>
      <p:sp>
        <p:nvSpPr>
          <p:cNvPr id="11" name="card"/>
          <p:cNvSpPr/>
          <p:nvPr/>
        </p:nvSpPr>
        <p:spPr>
          <a:xfrm>
            <a:off x="8046720" y="1280160"/>
            <a:ext cx="356616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8275320" y="1463040"/>
            <a:ext cx="731520" cy="457200"/>
          </a:xfrm>
          <a:prstGeom prst="rect">
            <a:avLst/>
          </a:prstGeom>
          <a:noFill/>
          <a:ln/>
        </p:spPr>
        <p:txBody>
          <a:bodyPr wrap="square" lIns="0" tIns="0" rIns="0" bIns="0" rtlCol="0" anchor="ctr"/>
          <a:lstStyle/>
          <a:p>
            <a:pPr indent="0" marL="0">
              <a:buNone/>
            </a:pPr>
            <a:r>
              <a:rPr lang="en-US" sz="2200" b="1" dirty="0">
                <a:solidFill>
                  <a:schemeClr val="accent1"/>
                </a:solidFill>
              </a:rPr>
              <a:t>G3</a:t>
            </a:r>
            <a:endParaRPr lang="en-US" sz="2200" dirty="0"/>
          </a:p>
        </p:txBody>
      </p:sp>
      <p:sp>
        <p:nvSpPr>
          <p:cNvPr id="13" name="Text 11"/>
          <p:cNvSpPr txBox="1"/>
          <p:nvPr/>
        </p:nvSpPr>
        <p:spPr>
          <a:xfrm>
            <a:off x="8961120" y="1463040"/>
            <a:ext cx="2514600" cy="502920"/>
          </a:xfrm>
          <a:prstGeom prst="rect">
            <a:avLst/>
          </a:prstGeom>
          <a:noFill/>
          <a:ln/>
        </p:spPr>
        <p:txBody>
          <a:bodyPr wrap="square" lIns="0" tIns="0" rIns="0" bIns="0" rtlCol="0" anchor="ctr"/>
          <a:lstStyle/>
          <a:p>
            <a:pPr indent="0" marL="0">
              <a:buNone/>
            </a:pPr>
            <a:r>
              <a:rPr lang="en-US" sz="1500" b="1" dirty="0">
                <a:solidFill>
                  <a:schemeClr val="tx1"/>
                </a:solidFill>
              </a:rPr>
              <a:t>Learning can hide emergencies</a:t>
            </a:r>
            <a:endParaRPr lang="en-US" sz="1500" dirty="0"/>
          </a:p>
        </p:txBody>
      </p:sp>
      <p:sp>
        <p:nvSpPr>
          <p:cNvPr id="14" name="Text 12"/>
          <p:cNvSpPr txBox="1"/>
          <p:nvPr/>
        </p:nvSpPr>
        <p:spPr>
          <a:xfrm>
            <a:off x="8275320" y="2057400"/>
            <a:ext cx="3200400" cy="594360"/>
          </a:xfrm>
          <a:prstGeom prst="rect">
            <a:avLst/>
          </a:prstGeom>
          <a:noFill/>
          <a:ln/>
        </p:spPr>
        <p:txBody>
          <a:bodyPr wrap="square" lIns="0" tIns="0" rIns="0" bIns="0" rtlCol="0" anchor="t"/>
          <a:lstStyle/>
          <a:p>
            <a:pPr indent="0" marL="0">
              <a:buNone/>
            </a:pPr>
            <a:r>
              <a:rPr lang="en-US" sz="1400" dirty="0">
                <a:solidFill>
                  <a:schemeClr val="tx2"/>
                </a:solidFill>
              </a:rPr>
              <a:t>→ Safety floor + bounded, slow learning</a:t>
            </a:r>
            <a:endParaRPr lang="en-US" sz="1400" dirty="0"/>
          </a:p>
        </p:txBody>
      </p:sp>
      <p:sp>
        <p:nvSpPr>
          <p:cNvPr id="15" name="card"/>
          <p:cNvSpPr/>
          <p:nvPr/>
        </p:nvSpPr>
        <p:spPr>
          <a:xfrm>
            <a:off x="548640" y="2926080"/>
            <a:ext cx="356616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777240" y="3108960"/>
            <a:ext cx="731520" cy="457200"/>
          </a:xfrm>
          <a:prstGeom prst="rect">
            <a:avLst/>
          </a:prstGeom>
          <a:noFill/>
          <a:ln/>
        </p:spPr>
        <p:txBody>
          <a:bodyPr wrap="square" lIns="0" tIns="0" rIns="0" bIns="0" rtlCol="0" anchor="ctr"/>
          <a:lstStyle/>
          <a:p>
            <a:pPr indent="0" marL="0">
              <a:buNone/>
            </a:pPr>
            <a:r>
              <a:rPr lang="en-US" sz="2200" b="1" dirty="0">
                <a:solidFill>
                  <a:schemeClr val="accent1"/>
                </a:solidFill>
              </a:rPr>
              <a:t>G4</a:t>
            </a:r>
            <a:endParaRPr lang="en-US" sz="2200" dirty="0"/>
          </a:p>
        </p:txBody>
      </p:sp>
      <p:sp>
        <p:nvSpPr>
          <p:cNvPr id="17" name="Text 15"/>
          <p:cNvSpPr txBox="1"/>
          <p:nvPr/>
        </p:nvSpPr>
        <p:spPr>
          <a:xfrm>
            <a:off x="1463040" y="3108960"/>
            <a:ext cx="2514600" cy="502920"/>
          </a:xfrm>
          <a:prstGeom prst="rect">
            <a:avLst/>
          </a:prstGeom>
          <a:noFill/>
          <a:ln/>
        </p:spPr>
        <p:txBody>
          <a:bodyPr wrap="square" lIns="0" tIns="0" rIns="0" bIns="0" rtlCol="0" anchor="ctr"/>
          <a:lstStyle/>
          <a:p>
            <a:pPr indent="0" marL="0">
              <a:buNone/>
            </a:pPr>
            <a:r>
              <a:rPr lang="en-US" sz="1500" b="1" dirty="0">
                <a:solidFill>
                  <a:schemeClr val="tx1"/>
                </a:solidFill>
              </a:rPr>
              <a:t>Black-box alerts</a:t>
            </a:r>
            <a:endParaRPr lang="en-US" sz="1500" dirty="0"/>
          </a:p>
        </p:txBody>
      </p:sp>
      <p:sp>
        <p:nvSpPr>
          <p:cNvPr id="18" name="Text 16"/>
          <p:cNvSpPr txBox="1"/>
          <p:nvPr/>
        </p:nvSpPr>
        <p:spPr>
          <a:xfrm>
            <a:off x="777240" y="3703320"/>
            <a:ext cx="3200400" cy="594360"/>
          </a:xfrm>
          <a:prstGeom prst="rect">
            <a:avLst/>
          </a:prstGeom>
          <a:noFill/>
          <a:ln/>
        </p:spPr>
        <p:txBody>
          <a:bodyPr wrap="square" lIns="0" tIns="0" rIns="0" bIns="0" rtlCol="0" anchor="t"/>
          <a:lstStyle/>
          <a:p>
            <a:pPr indent="0" marL="0">
              <a:buNone/>
            </a:pPr>
            <a:r>
              <a:rPr lang="en-US" sz="1400" dirty="0">
                <a:solidFill>
                  <a:schemeClr val="tx2"/>
                </a:solidFill>
              </a:rPr>
              <a:t>→ Reasons, confidence, counterfactuals</a:t>
            </a:r>
            <a:endParaRPr lang="en-US" sz="1400" dirty="0"/>
          </a:p>
        </p:txBody>
      </p:sp>
      <p:sp>
        <p:nvSpPr>
          <p:cNvPr id="19" name="card"/>
          <p:cNvSpPr/>
          <p:nvPr/>
        </p:nvSpPr>
        <p:spPr>
          <a:xfrm>
            <a:off x="4297680" y="2926080"/>
            <a:ext cx="356616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4526280" y="3108960"/>
            <a:ext cx="731520" cy="457200"/>
          </a:xfrm>
          <a:prstGeom prst="rect">
            <a:avLst/>
          </a:prstGeom>
          <a:noFill/>
          <a:ln/>
        </p:spPr>
        <p:txBody>
          <a:bodyPr wrap="square" lIns="0" tIns="0" rIns="0" bIns="0" rtlCol="0" anchor="ctr"/>
          <a:lstStyle/>
          <a:p>
            <a:pPr indent="0" marL="0">
              <a:buNone/>
            </a:pPr>
            <a:r>
              <a:rPr lang="en-US" sz="2200" b="1" dirty="0">
                <a:solidFill>
                  <a:schemeClr val="accent1"/>
                </a:solidFill>
              </a:rPr>
              <a:t>G5</a:t>
            </a:r>
            <a:endParaRPr lang="en-US" sz="2200" dirty="0"/>
          </a:p>
        </p:txBody>
      </p:sp>
      <p:sp>
        <p:nvSpPr>
          <p:cNvPr id="21" name="Text 19"/>
          <p:cNvSpPr txBox="1"/>
          <p:nvPr/>
        </p:nvSpPr>
        <p:spPr>
          <a:xfrm>
            <a:off x="5212080" y="3108960"/>
            <a:ext cx="2514600" cy="502920"/>
          </a:xfrm>
          <a:prstGeom prst="rect">
            <a:avLst/>
          </a:prstGeom>
          <a:noFill/>
          <a:ln/>
        </p:spPr>
        <p:txBody>
          <a:bodyPr wrap="square" lIns="0" tIns="0" rIns="0" bIns="0" rtlCol="0" anchor="ctr"/>
          <a:lstStyle/>
          <a:p>
            <a:pPr indent="0" marL="0">
              <a:buNone/>
            </a:pPr>
            <a:r>
              <a:rPr lang="en-US" sz="1500" b="1" dirty="0">
                <a:solidFill>
                  <a:schemeClr val="tx1"/>
                </a:solidFill>
              </a:rPr>
              <a:t>Bad sensor data</a:t>
            </a:r>
            <a:endParaRPr lang="en-US" sz="1500" dirty="0"/>
          </a:p>
        </p:txBody>
      </p:sp>
      <p:sp>
        <p:nvSpPr>
          <p:cNvPr id="22" name="Text 20"/>
          <p:cNvSpPr txBox="1"/>
          <p:nvPr/>
        </p:nvSpPr>
        <p:spPr>
          <a:xfrm>
            <a:off x="4526280" y="3703320"/>
            <a:ext cx="3200400" cy="594360"/>
          </a:xfrm>
          <a:prstGeom prst="rect">
            <a:avLst/>
          </a:prstGeom>
          <a:noFill/>
          <a:ln/>
        </p:spPr>
        <p:txBody>
          <a:bodyPr wrap="square" lIns="0" tIns="0" rIns="0" bIns="0" rtlCol="0" anchor="t"/>
          <a:lstStyle/>
          <a:p>
            <a:pPr indent="0" marL="0">
              <a:buNone/>
            </a:pPr>
            <a:r>
              <a:rPr lang="en-US" sz="1400" dirty="0">
                <a:solidFill>
                  <a:schemeClr val="tx2"/>
                </a:solidFill>
              </a:rPr>
              <a:t>→ Signal-quality check before anything else</a:t>
            </a:r>
            <a:endParaRPr lang="en-US" sz="1400" dirty="0"/>
          </a:p>
        </p:txBody>
      </p:sp>
      <p:sp>
        <p:nvSpPr>
          <p:cNvPr id="23" name="card"/>
          <p:cNvSpPr/>
          <p:nvPr/>
        </p:nvSpPr>
        <p:spPr>
          <a:xfrm>
            <a:off x="8046720" y="2926080"/>
            <a:ext cx="356616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Text 22"/>
          <p:cNvSpPr txBox="1"/>
          <p:nvPr/>
        </p:nvSpPr>
        <p:spPr>
          <a:xfrm>
            <a:off x="8275320" y="3108960"/>
            <a:ext cx="731520" cy="457200"/>
          </a:xfrm>
          <a:prstGeom prst="rect">
            <a:avLst/>
          </a:prstGeom>
          <a:noFill/>
          <a:ln/>
        </p:spPr>
        <p:txBody>
          <a:bodyPr wrap="square" lIns="0" tIns="0" rIns="0" bIns="0" rtlCol="0" anchor="ctr"/>
          <a:lstStyle/>
          <a:p>
            <a:pPr indent="0" marL="0">
              <a:buNone/>
            </a:pPr>
            <a:r>
              <a:rPr lang="en-US" sz="2200" b="1" dirty="0">
                <a:solidFill>
                  <a:schemeClr val="accent1"/>
                </a:solidFill>
              </a:rPr>
              <a:t>G6</a:t>
            </a:r>
            <a:endParaRPr lang="en-US" sz="2200" dirty="0"/>
          </a:p>
        </p:txBody>
      </p:sp>
      <p:sp>
        <p:nvSpPr>
          <p:cNvPr id="25" name="Text 23"/>
          <p:cNvSpPr txBox="1"/>
          <p:nvPr/>
        </p:nvSpPr>
        <p:spPr>
          <a:xfrm>
            <a:off x="8961120" y="3108960"/>
            <a:ext cx="2514600" cy="502920"/>
          </a:xfrm>
          <a:prstGeom prst="rect">
            <a:avLst/>
          </a:prstGeom>
          <a:noFill/>
          <a:ln/>
        </p:spPr>
        <p:txBody>
          <a:bodyPr wrap="square" lIns="0" tIns="0" rIns="0" bIns="0" rtlCol="0" anchor="ctr"/>
          <a:lstStyle/>
          <a:p>
            <a:pPr indent="0" marL="0">
              <a:buNone/>
            </a:pPr>
            <a:r>
              <a:rPr lang="en-US" sz="1500" b="1" dirty="0">
                <a:solidFill>
                  <a:schemeClr val="tx1"/>
                </a:solidFill>
              </a:rPr>
              <a:t>Cold start for new patients</a:t>
            </a:r>
            <a:endParaRPr lang="en-US" sz="1500" dirty="0"/>
          </a:p>
        </p:txBody>
      </p:sp>
      <p:sp>
        <p:nvSpPr>
          <p:cNvPr id="26" name="Text 24"/>
          <p:cNvSpPr txBox="1"/>
          <p:nvPr/>
        </p:nvSpPr>
        <p:spPr>
          <a:xfrm>
            <a:off x="8275320" y="3703320"/>
            <a:ext cx="3200400" cy="594360"/>
          </a:xfrm>
          <a:prstGeom prst="rect">
            <a:avLst/>
          </a:prstGeom>
          <a:noFill/>
          <a:ln/>
        </p:spPr>
        <p:txBody>
          <a:bodyPr wrap="square" lIns="0" tIns="0" rIns="0" bIns="0" rtlCol="0" anchor="t"/>
          <a:lstStyle/>
          <a:p>
            <a:pPr indent="0" marL="0">
              <a:buNone/>
            </a:pPr>
            <a:r>
              <a:rPr lang="en-US" sz="1400" dirty="0">
                <a:solidFill>
                  <a:schemeClr val="tx2"/>
                </a:solidFill>
              </a:rPr>
              <a:t>→ Federated prior: shared label statistics, no raw data</a:t>
            </a:r>
            <a:endParaRPr lang="en-US" sz="1400" dirty="0"/>
          </a:p>
        </p:txBody>
      </p:sp>
      <p:sp>
        <p:nvSpPr>
          <p:cNvPr id="27" name="card"/>
          <p:cNvSpPr/>
          <p:nvPr/>
        </p:nvSpPr>
        <p:spPr>
          <a:xfrm>
            <a:off x="548640" y="4572000"/>
            <a:ext cx="356616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8" name="Text 26"/>
          <p:cNvSpPr txBox="1"/>
          <p:nvPr/>
        </p:nvSpPr>
        <p:spPr>
          <a:xfrm>
            <a:off x="777240" y="4754880"/>
            <a:ext cx="731520" cy="457200"/>
          </a:xfrm>
          <a:prstGeom prst="rect">
            <a:avLst/>
          </a:prstGeom>
          <a:noFill/>
          <a:ln/>
        </p:spPr>
        <p:txBody>
          <a:bodyPr wrap="square" lIns="0" tIns="0" rIns="0" bIns="0" rtlCol="0" anchor="ctr"/>
          <a:lstStyle/>
          <a:p>
            <a:pPr indent="0" marL="0">
              <a:buNone/>
            </a:pPr>
            <a:r>
              <a:rPr lang="en-US" sz="2200" b="1" dirty="0">
                <a:solidFill>
                  <a:schemeClr val="accent1"/>
                </a:solidFill>
              </a:rPr>
              <a:t>G7</a:t>
            </a:r>
            <a:endParaRPr lang="en-US" sz="2200" dirty="0"/>
          </a:p>
        </p:txBody>
      </p:sp>
      <p:sp>
        <p:nvSpPr>
          <p:cNvPr id="29" name="Text 27"/>
          <p:cNvSpPr txBox="1"/>
          <p:nvPr/>
        </p:nvSpPr>
        <p:spPr>
          <a:xfrm>
            <a:off x="1463040" y="4754880"/>
            <a:ext cx="2514600" cy="502920"/>
          </a:xfrm>
          <a:prstGeom prst="rect">
            <a:avLst/>
          </a:prstGeom>
          <a:noFill/>
          <a:ln/>
        </p:spPr>
        <p:txBody>
          <a:bodyPr wrap="square" lIns="0" tIns="0" rIns="0" bIns="0" rtlCol="0" anchor="ctr"/>
          <a:lstStyle/>
          <a:p>
            <a:pPr indent="0" marL="0">
              <a:buNone/>
            </a:pPr>
            <a:r>
              <a:rPr lang="en-US" sz="1500" b="1" dirty="0">
                <a:solidFill>
                  <a:schemeClr val="tx1"/>
                </a:solidFill>
              </a:rPr>
              <a:t>No uncertainty in results</a:t>
            </a:r>
            <a:endParaRPr lang="en-US" sz="1500" dirty="0"/>
          </a:p>
        </p:txBody>
      </p:sp>
      <p:sp>
        <p:nvSpPr>
          <p:cNvPr id="30" name="Text 28"/>
          <p:cNvSpPr txBox="1"/>
          <p:nvPr/>
        </p:nvSpPr>
        <p:spPr>
          <a:xfrm>
            <a:off x="777240" y="5349240"/>
            <a:ext cx="3200400" cy="594360"/>
          </a:xfrm>
          <a:prstGeom prst="rect">
            <a:avLst/>
          </a:prstGeom>
          <a:noFill/>
          <a:ln/>
        </p:spPr>
        <p:txBody>
          <a:bodyPr wrap="square" lIns="0" tIns="0" rIns="0" bIns="0" rtlCol="0" anchor="t"/>
          <a:lstStyle/>
          <a:p>
            <a:pPr indent="0" marL="0">
              <a:buNone/>
            </a:pPr>
            <a:r>
              <a:rPr lang="en-US" sz="1400" dirty="0">
                <a:solidFill>
                  <a:schemeClr val="tx2"/>
                </a:solidFill>
              </a:rPr>
              <a:t>→ 5 systems, bootstrap CIs, ablation, fatigue sweep</a:t>
            </a:r>
            <a:endParaRPr lang="en-US" sz="1400" dirty="0"/>
          </a:p>
        </p:txBody>
      </p:sp>
      <p:sp>
        <p:nvSpPr>
          <p:cNvPr id="31" name="card"/>
          <p:cNvSpPr/>
          <p:nvPr/>
        </p:nvSpPr>
        <p:spPr>
          <a:xfrm>
            <a:off x="4297680" y="4572000"/>
            <a:ext cx="356616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2" name="Text 30"/>
          <p:cNvSpPr txBox="1"/>
          <p:nvPr/>
        </p:nvSpPr>
        <p:spPr>
          <a:xfrm>
            <a:off x="4526280" y="4754880"/>
            <a:ext cx="731520" cy="457200"/>
          </a:xfrm>
          <a:prstGeom prst="rect">
            <a:avLst/>
          </a:prstGeom>
          <a:noFill/>
          <a:ln/>
        </p:spPr>
        <p:txBody>
          <a:bodyPr wrap="square" lIns="0" tIns="0" rIns="0" bIns="0" rtlCol="0" anchor="ctr"/>
          <a:lstStyle/>
          <a:p>
            <a:pPr indent="0" marL="0">
              <a:buNone/>
            </a:pPr>
            <a:r>
              <a:rPr lang="en-US" sz="2200" b="1" dirty="0">
                <a:solidFill>
                  <a:schemeClr val="accent1"/>
                </a:solidFill>
              </a:rPr>
              <a:t>G8</a:t>
            </a:r>
            <a:endParaRPr lang="en-US" sz="2200" dirty="0"/>
          </a:p>
        </p:txBody>
      </p:sp>
      <p:sp>
        <p:nvSpPr>
          <p:cNvPr id="33" name="Text 31"/>
          <p:cNvSpPr txBox="1"/>
          <p:nvPr/>
        </p:nvSpPr>
        <p:spPr>
          <a:xfrm>
            <a:off x="5212080" y="4754880"/>
            <a:ext cx="2514600" cy="502920"/>
          </a:xfrm>
          <a:prstGeom prst="rect">
            <a:avLst/>
          </a:prstGeom>
          <a:noFill/>
          <a:ln/>
        </p:spPr>
        <p:txBody>
          <a:bodyPr wrap="square" lIns="0" tIns="0" rIns="0" bIns="0" rtlCol="0" anchor="ctr"/>
          <a:lstStyle/>
          <a:p>
            <a:pPr indent="0" marL="0">
              <a:buNone/>
            </a:pPr>
            <a:r>
              <a:rPr lang="en-US" sz="1500" b="1" dirty="0">
                <a:solidFill>
                  <a:schemeClr val="tx1"/>
                </a:solidFill>
              </a:rPr>
              <a:t>English-only apps</a:t>
            </a:r>
            <a:endParaRPr lang="en-US" sz="1500" dirty="0"/>
          </a:p>
        </p:txBody>
      </p:sp>
      <p:sp>
        <p:nvSpPr>
          <p:cNvPr id="34" name="Text 32"/>
          <p:cNvSpPr txBox="1"/>
          <p:nvPr/>
        </p:nvSpPr>
        <p:spPr>
          <a:xfrm>
            <a:off x="4526280" y="5349240"/>
            <a:ext cx="3200400" cy="594360"/>
          </a:xfrm>
          <a:prstGeom prst="rect">
            <a:avLst/>
          </a:prstGeom>
          <a:noFill/>
          <a:ln/>
        </p:spPr>
        <p:txBody>
          <a:bodyPr wrap="square" lIns="0" tIns="0" rIns="0" bIns="0" rtlCol="0" anchor="t"/>
          <a:lstStyle/>
          <a:p>
            <a:pPr indent="0" marL="0">
              <a:buNone/>
            </a:pPr>
            <a:r>
              <a:rPr lang="en-US" sz="1400" dirty="0">
                <a:solidFill>
                  <a:schemeClr val="tx2"/>
                </a:solidFill>
              </a:rPr>
              <a:t>→ Full English and Hindi, Hindi voice and assistant</a:t>
            </a:r>
            <a:endParaRPr lang="en-US" sz="1400" dirty="0"/>
          </a:p>
        </p:txBody>
      </p:sp>
      <p:sp>
        <p:nvSpPr>
          <p:cNvPr id="35" name="card"/>
          <p:cNvSpPr/>
          <p:nvPr/>
        </p:nvSpPr>
        <p:spPr>
          <a:xfrm>
            <a:off x="8046720" y="4572000"/>
            <a:ext cx="356616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6" name="Text 34"/>
          <p:cNvSpPr txBox="1"/>
          <p:nvPr/>
        </p:nvSpPr>
        <p:spPr>
          <a:xfrm>
            <a:off x="8275320" y="4754880"/>
            <a:ext cx="731520" cy="457200"/>
          </a:xfrm>
          <a:prstGeom prst="rect">
            <a:avLst/>
          </a:prstGeom>
          <a:noFill/>
          <a:ln/>
        </p:spPr>
        <p:txBody>
          <a:bodyPr wrap="square" lIns="0" tIns="0" rIns="0" bIns="0" rtlCol="0" anchor="ctr"/>
          <a:lstStyle/>
          <a:p>
            <a:pPr indent="0" marL="0">
              <a:buNone/>
            </a:pPr>
            <a:r>
              <a:rPr lang="en-US" sz="2200" b="1" dirty="0">
                <a:solidFill>
                  <a:schemeClr val="accent1"/>
                </a:solidFill>
              </a:rPr>
              <a:t>G9</a:t>
            </a:r>
            <a:endParaRPr lang="en-US" sz="2200" dirty="0"/>
          </a:p>
        </p:txBody>
      </p:sp>
      <p:sp>
        <p:nvSpPr>
          <p:cNvPr id="37" name="Text 35"/>
          <p:cNvSpPr txBox="1"/>
          <p:nvPr/>
        </p:nvSpPr>
        <p:spPr>
          <a:xfrm>
            <a:off x="8961120" y="4754880"/>
            <a:ext cx="2514600" cy="502920"/>
          </a:xfrm>
          <a:prstGeom prst="rect">
            <a:avLst/>
          </a:prstGeom>
          <a:noFill/>
          <a:ln/>
        </p:spPr>
        <p:txBody>
          <a:bodyPr wrap="square" lIns="0" tIns="0" rIns="0" bIns="0" rtlCol="0" anchor="ctr"/>
          <a:lstStyle/>
          <a:p>
            <a:pPr indent="0" marL="0">
              <a:buNone/>
            </a:pPr>
            <a:r>
              <a:rPr lang="en-US" sz="1500" b="1" dirty="0">
                <a:solidFill>
                  <a:schemeClr val="tx1"/>
                </a:solidFill>
              </a:rPr>
              <a:t>Hard for elderly or disabled users</a:t>
            </a:r>
            <a:endParaRPr lang="en-US" sz="1500" dirty="0"/>
          </a:p>
        </p:txBody>
      </p:sp>
      <p:sp>
        <p:nvSpPr>
          <p:cNvPr id="38" name="Text 36"/>
          <p:cNvSpPr txBox="1"/>
          <p:nvPr/>
        </p:nvSpPr>
        <p:spPr>
          <a:xfrm>
            <a:off x="8275320" y="5349240"/>
            <a:ext cx="3200400" cy="594360"/>
          </a:xfrm>
          <a:prstGeom prst="rect">
            <a:avLst/>
          </a:prstGeom>
          <a:noFill/>
          <a:ln/>
        </p:spPr>
        <p:txBody>
          <a:bodyPr wrap="square" lIns="0" tIns="0" rIns="0" bIns="0" rtlCol="0" anchor="t"/>
          <a:lstStyle/>
          <a:p>
            <a:pPr indent="0" marL="0">
              <a:buNone/>
            </a:pPr>
            <a:r>
              <a:rPr lang="en-US" sz="1400" dirty="0">
                <a:solidFill>
                  <a:schemeClr val="tx2"/>
                </a:solidFill>
              </a:rPr>
              <a:t>→ Large text, easy home, flash and spoken alerts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How we tested it</a:t>
            </a:r>
            <a:endParaRPr lang="en-US" sz="3600" dirty="0"/>
          </a:p>
        </p:txBody>
      </p:sp>
      <p:sp>
        <p:nvSpPr>
          <p:cNvPr id="3" name="card"/>
          <p:cNvSpPr/>
          <p:nvPr/>
        </p:nvSpPr>
        <p:spPr>
          <a:xfrm>
            <a:off x="548640" y="1280160"/>
            <a:ext cx="2651760" cy="1554480"/>
          </a:xfrm>
          <a:prstGeom prst="roundRect">
            <a:avLst>
              <a:gd name="adj" fmla="val 7059"/>
            </a:avLst>
          </a:prstGeom>
          <a:solidFill>
            <a:schemeClr val="tx1"/>
          </a:solidFill>
          <a:ln w="12700">
            <a:solidFill>
              <a:schemeClr val="tx1"/>
            </a:solidFill>
            <a:prstDash val="solid"/>
          </a:ln>
        </p:spPr>
      </p:sp>
      <p:sp>
        <p:nvSpPr>
          <p:cNvPr id="4" name="Text 2"/>
          <p:cNvSpPr txBox="1"/>
          <p:nvPr/>
        </p:nvSpPr>
        <p:spPr>
          <a:xfrm>
            <a:off x="822960" y="1417320"/>
            <a:ext cx="2194560" cy="822960"/>
          </a:xfrm>
          <a:prstGeom prst="rect">
            <a:avLst/>
          </a:prstGeom>
          <a:noFill/>
          <a:ln/>
        </p:spPr>
        <p:txBody>
          <a:bodyPr wrap="square" lIns="0" tIns="0" rIns="0" bIns="0" rtlCol="0" anchor="ctr"/>
          <a:lstStyle/>
          <a:p>
            <a:pPr indent="0" marL="0">
              <a:buNone/>
            </a:pPr>
            <a:r>
              <a:rPr lang="en-US" sz="4800" b="1" dirty="0">
                <a:solidFill>
                  <a:schemeClr val="accent1"/>
                </a:solidFill>
              </a:rPr>
              <a:t>40</a:t>
            </a:r>
            <a:endParaRPr lang="en-US" sz="4800" dirty="0"/>
          </a:p>
        </p:txBody>
      </p:sp>
      <p:sp>
        <p:nvSpPr>
          <p:cNvPr id="5" name="Text 3"/>
          <p:cNvSpPr txBox="1"/>
          <p:nvPr/>
        </p:nvSpPr>
        <p:spPr>
          <a:xfrm>
            <a:off x="822960" y="2240280"/>
            <a:ext cx="2194560" cy="411480"/>
          </a:xfrm>
          <a:prstGeom prst="rect">
            <a:avLst/>
          </a:prstGeom>
          <a:noFill/>
          <a:ln/>
        </p:spPr>
        <p:txBody>
          <a:bodyPr wrap="square" lIns="0" tIns="0" rIns="0" bIns="0" rtlCol="0" anchor="ctr"/>
          <a:lstStyle/>
          <a:p>
            <a:pPr indent="0" marL="0">
              <a:buNone/>
            </a:pPr>
            <a:r>
              <a:rPr lang="en-US" sz="1600" dirty="0">
                <a:solidFill>
                  <a:schemeClr val="bg1"/>
                </a:solidFill>
              </a:rPr>
              <a:t>virtual patients</a:t>
            </a:r>
            <a:endParaRPr lang="en-US" sz="1600" dirty="0"/>
          </a:p>
        </p:txBody>
      </p:sp>
      <p:sp>
        <p:nvSpPr>
          <p:cNvPr id="6" name="card"/>
          <p:cNvSpPr/>
          <p:nvPr/>
        </p:nvSpPr>
        <p:spPr>
          <a:xfrm>
            <a:off x="3364992" y="1280160"/>
            <a:ext cx="2651760" cy="1554480"/>
          </a:xfrm>
          <a:prstGeom prst="roundRect">
            <a:avLst>
              <a:gd name="adj" fmla="val 7059"/>
            </a:avLst>
          </a:prstGeom>
          <a:solidFill>
            <a:schemeClr val="tx1"/>
          </a:solidFill>
          <a:ln w="12700">
            <a:solidFill>
              <a:schemeClr val="tx1"/>
            </a:solidFill>
            <a:prstDash val="solid"/>
          </a:ln>
        </p:spPr>
      </p:sp>
      <p:sp>
        <p:nvSpPr>
          <p:cNvPr id="7" name="Text 5"/>
          <p:cNvSpPr txBox="1"/>
          <p:nvPr/>
        </p:nvSpPr>
        <p:spPr>
          <a:xfrm>
            <a:off x="3639312" y="1417320"/>
            <a:ext cx="2194560" cy="822960"/>
          </a:xfrm>
          <a:prstGeom prst="rect">
            <a:avLst/>
          </a:prstGeom>
          <a:noFill/>
          <a:ln/>
        </p:spPr>
        <p:txBody>
          <a:bodyPr wrap="square" lIns="0" tIns="0" rIns="0" bIns="0" rtlCol="0" anchor="ctr"/>
          <a:lstStyle/>
          <a:p>
            <a:pPr indent="0" marL="0">
              <a:buNone/>
            </a:pPr>
            <a:r>
              <a:rPr lang="en-US" sz="4800" b="1" dirty="0">
                <a:solidFill>
                  <a:schemeClr val="accent1"/>
                </a:solidFill>
              </a:rPr>
              <a:t>30</a:t>
            </a:r>
            <a:endParaRPr lang="en-US" sz="4800" dirty="0"/>
          </a:p>
        </p:txBody>
      </p:sp>
      <p:sp>
        <p:nvSpPr>
          <p:cNvPr id="8" name="Text 6"/>
          <p:cNvSpPr txBox="1"/>
          <p:nvPr/>
        </p:nvSpPr>
        <p:spPr>
          <a:xfrm>
            <a:off x="3639312" y="2240280"/>
            <a:ext cx="2194560" cy="411480"/>
          </a:xfrm>
          <a:prstGeom prst="rect">
            <a:avLst/>
          </a:prstGeom>
          <a:noFill/>
          <a:ln/>
        </p:spPr>
        <p:txBody>
          <a:bodyPr wrap="square" lIns="0" tIns="0" rIns="0" bIns="0" rtlCol="0" anchor="ctr"/>
          <a:lstStyle/>
          <a:p>
            <a:pPr indent="0" marL="0">
              <a:buNone/>
            </a:pPr>
            <a:r>
              <a:rPr lang="en-US" sz="1600" dirty="0">
                <a:solidFill>
                  <a:schemeClr val="bg1"/>
                </a:solidFill>
              </a:rPr>
              <a:t>days each</a:t>
            </a:r>
            <a:endParaRPr lang="en-US" sz="1600" dirty="0"/>
          </a:p>
        </p:txBody>
      </p:sp>
      <p:sp>
        <p:nvSpPr>
          <p:cNvPr id="9" name="card"/>
          <p:cNvSpPr/>
          <p:nvPr/>
        </p:nvSpPr>
        <p:spPr>
          <a:xfrm>
            <a:off x="6181344" y="1280160"/>
            <a:ext cx="2651760" cy="1554480"/>
          </a:xfrm>
          <a:prstGeom prst="roundRect">
            <a:avLst>
              <a:gd name="adj" fmla="val 7059"/>
            </a:avLst>
          </a:prstGeom>
          <a:solidFill>
            <a:schemeClr val="tx1"/>
          </a:solidFill>
          <a:ln w="12700">
            <a:solidFill>
              <a:schemeClr val="tx1"/>
            </a:solidFill>
            <a:prstDash val="solid"/>
          </a:ln>
        </p:spPr>
      </p:sp>
      <p:sp>
        <p:nvSpPr>
          <p:cNvPr id="10" name="Text 8"/>
          <p:cNvSpPr txBox="1"/>
          <p:nvPr/>
        </p:nvSpPr>
        <p:spPr>
          <a:xfrm>
            <a:off x="6455664" y="1417320"/>
            <a:ext cx="2194560" cy="822960"/>
          </a:xfrm>
          <a:prstGeom prst="rect">
            <a:avLst/>
          </a:prstGeom>
          <a:noFill/>
          <a:ln/>
        </p:spPr>
        <p:txBody>
          <a:bodyPr wrap="square" lIns="0" tIns="0" rIns="0" bIns="0" rtlCol="0" anchor="ctr"/>
          <a:lstStyle/>
          <a:p>
            <a:pPr indent="0" marL="0">
              <a:buNone/>
            </a:pPr>
            <a:r>
              <a:rPr lang="en-US" sz="4800" b="1" dirty="0">
                <a:solidFill>
                  <a:schemeClr val="accent1"/>
                </a:solidFill>
              </a:rPr>
              <a:t>159</a:t>
            </a:r>
            <a:endParaRPr lang="en-US" sz="4800" dirty="0"/>
          </a:p>
        </p:txBody>
      </p:sp>
      <p:sp>
        <p:nvSpPr>
          <p:cNvPr id="11" name="Text 9"/>
          <p:cNvSpPr txBox="1"/>
          <p:nvPr/>
        </p:nvSpPr>
        <p:spPr>
          <a:xfrm>
            <a:off x="6455664" y="2240280"/>
            <a:ext cx="2194560" cy="411480"/>
          </a:xfrm>
          <a:prstGeom prst="rect">
            <a:avLst/>
          </a:prstGeom>
          <a:noFill/>
          <a:ln/>
        </p:spPr>
        <p:txBody>
          <a:bodyPr wrap="square" lIns="0" tIns="0" rIns="0" bIns="0" rtlCol="0" anchor="ctr"/>
          <a:lstStyle/>
          <a:p>
            <a:pPr indent="0" marL="0">
              <a:buNone/>
            </a:pPr>
            <a:r>
              <a:rPr lang="en-US" sz="1600" dirty="0">
                <a:solidFill>
                  <a:schemeClr val="bg1"/>
                </a:solidFill>
              </a:rPr>
              <a:t>real deteriorations</a:t>
            </a:r>
            <a:endParaRPr lang="en-US" sz="1600" dirty="0"/>
          </a:p>
        </p:txBody>
      </p:sp>
      <p:sp>
        <p:nvSpPr>
          <p:cNvPr id="12" name="card"/>
          <p:cNvSpPr/>
          <p:nvPr/>
        </p:nvSpPr>
        <p:spPr>
          <a:xfrm>
            <a:off x="8997696" y="1280160"/>
            <a:ext cx="2651760" cy="1554480"/>
          </a:xfrm>
          <a:prstGeom prst="roundRect">
            <a:avLst>
              <a:gd name="adj" fmla="val 7059"/>
            </a:avLst>
          </a:prstGeom>
          <a:solidFill>
            <a:schemeClr val="tx1"/>
          </a:solidFill>
          <a:ln w="12700">
            <a:solidFill>
              <a:schemeClr val="tx1"/>
            </a:solidFill>
            <a:prstDash val="solid"/>
          </a:ln>
        </p:spPr>
      </p:sp>
      <p:sp>
        <p:nvSpPr>
          <p:cNvPr id="13" name="Text 11"/>
          <p:cNvSpPr txBox="1"/>
          <p:nvPr/>
        </p:nvSpPr>
        <p:spPr>
          <a:xfrm>
            <a:off x="9272016" y="1417320"/>
            <a:ext cx="2194560" cy="822960"/>
          </a:xfrm>
          <a:prstGeom prst="rect">
            <a:avLst/>
          </a:prstGeom>
          <a:noFill/>
          <a:ln/>
        </p:spPr>
        <p:txBody>
          <a:bodyPr wrap="square" lIns="0" tIns="0" rIns="0" bIns="0" rtlCol="0" anchor="ctr"/>
          <a:lstStyle/>
          <a:p>
            <a:pPr indent="0" marL="0">
              <a:buNone/>
            </a:pPr>
            <a:r>
              <a:rPr lang="en-US" sz="4800" b="1" dirty="0">
                <a:solidFill>
                  <a:schemeClr val="accent1"/>
                </a:solidFill>
              </a:rPr>
              <a:t>5</a:t>
            </a:r>
            <a:endParaRPr lang="en-US" sz="4800" dirty="0"/>
          </a:p>
        </p:txBody>
      </p:sp>
      <p:sp>
        <p:nvSpPr>
          <p:cNvPr id="14" name="Text 12"/>
          <p:cNvSpPr txBox="1"/>
          <p:nvPr/>
        </p:nvSpPr>
        <p:spPr>
          <a:xfrm>
            <a:off x="9272016" y="2240280"/>
            <a:ext cx="2194560" cy="411480"/>
          </a:xfrm>
          <a:prstGeom prst="rect">
            <a:avLst/>
          </a:prstGeom>
          <a:noFill/>
          <a:ln/>
        </p:spPr>
        <p:txBody>
          <a:bodyPr wrap="square" lIns="0" tIns="0" rIns="0" bIns="0" rtlCol="0" anchor="ctr"/>
          <a:lstStyle/>
          <a:p>
            <a:pPr indent="0" marL="0">
              <a:buNone/>
            </a:pPr>
            <a:r>
              <a:rPr lang="en-US" sz="1600" dirty="0">
                <a:solidFill>
                  <a:schemeClr val="bg1"/>
                </a:solidFill>
              </a:rPr>
              <a:t>systems compared</a:t>
            </a:r>
            <a:endParaRPr lang="en-US" sz="1600" dirty="0"/>
          </a:p>
        </p:txBody>
      </p:sp>
      <p:sp>
        <p:nvSpPr>
          <p:cNvPr id="15" name="Text 13"/>
          <p:cNvSpPr txBox="1"/>
          <p:nvPr/>
        </p:nvSpPr>
        <p:spPr>
          <a:xfrm>
            <a:off x="548640" y="3108960"/>
            <a:ext cx="11064240" cy="822960"/>
          </a:xfrm>
          <a:prstGeom prst="rect">
            <a:avLst/>
          </a:prstGeom>
          <a:noFill/>
          <a:ln/>
        </p:spPr>
        <p:txBody>
          <a:bodyPr wrap="square" lIns="0" tIns="0" rIns="0" bIns="0" rtlCol="0" anchor="t"/>
          <a:lstStyle/>
          <a:p>
            <a:pPr indent="0" marL="0">
              <a:buNone/>
            </a:pPr>
            <a:r>
              <a:rPr lang="en-US" sz="1600" dirty="0">
                <a:solidFill>
                  <a:schemeClr val="tx1"/>
                </a:solidFill>
              </a:rPr>
              <a:t>Every day each patient has exercise, a loose sensor, coffee or stress, night oxygen dips, and sometimes a real problem (fast heart with falling oxygen, fever, critical oxygen drop). All five systems see exactly the same events.</a:t>
            </a:r>
            <a:endParaRPr lang="en-US" sz="1600" dirty="0"/>
          </a:p>
        </p:txBody>
      </p:sp>
      <p:sp>
        <p:nvSpPr>
          <p:cNvPr id="16" name="card"/>
          <p:cNvSpPr/>
          <p:nvPr/>
        </p:nvSpPr>
        <p:spPr>
          <a:xfrm>
            <a:off x="548640" y="4160520"/>
            <a:ext cx="2103120" cy="1600200"/>
          </a:xfrm>
          <a:prstGeom prst="roundRect">
            <a:avLst>
              <a:gd name="adj" fmla="val 6857"/>
            </a:avLst>
          </a:prstGeom>
          <a:solidFill>
            <a:schemeClr val="bg2"/>
          </a:solidFill>
          <a:ln w="12700">
            <a:solidFill>
              <a:schemeClr val="bg2"/>
            </a:solidFill>
            <a:prstDash val="solid"/>
          </a:ln>
        </p:spPr>
      </p:sp>
      <p:sp>
        <p:nvSpPr>
          <p:cNvPr id="17" name="Text 15"/>
          <p:cNvSpPr txBox="1"/>
          <p:nvPr/>
        </p:nvSpPr>
        <p:spPr>
          <a:xfrm>
            <a:off x="731520" y="4251960"/>
            <a:ext cx="1737360" cy="457200"/>
          </a:xfrm>
          <a:prstGeom prst="rect">
            <a:avLst/>
          </a:prstGeom>
          <a:noFill/>
          <a:ln/>
        </p:spPr>
        <p:txBody>
          <a:bodyPr wrap="square" lIns="0" tIns="0" rIns="0" bIns="0" rtlCol="0" anchor="ctr"/>
          <a:lstStyle/>
          <a:p>
            <a:pPr indent="0" marL="0">
              <a:buNone/>
            </a:pPr>
            <a:r>
              <a:rPr lang="en-US" sz="2400" b="1" dirty="0">
                <a:solidFill>
                  <a:schemeClr val="tx1"/>
                </a:solidFill>
              </a:rPr>
              <a:t>A</a:t>
            </a:r>
            <a:endParaRPr lang="en-US" sz="2400" dirty="0"/>
          </a:p>
        </p:txBody>
      </p:sp>
      <p:sp>
        <p:nvSpPr>
          <p:cNvPr id="18" name="Text 16"/>
          <p:cNvSpPr txBox="1"/>
          <p:nvPr/>
        </p:nvSpPr>
        <p:spPr>
          <a:xfrm>
            <a:off x="731520" y="470916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Fixed threshold</a:t>
            </a:r>
            <a:endParaRPr lang="en-US" sz="1500" dirty="0"/>
          </a:p>
        </p:txBody>
      </p:sp>
      <p:sp>
        <p:nvSpPr>
          <p:cNvPr id="19" name="Text 17"/>
          <p:cNvSpPr txBox="1"/>
          <p:nvPr/>
        </p:nvSpPr>
        <p:spPr>
          <a:xfrm>
            <a:off x="731520" y="5166360"/>
            <a:ext cx="1783080" cy="457200"/>
          </a:xfrm>
          <a:prstGeom prst="rect">
            <a:avLst/>
          </a:prstGeom>
          <a:noFill/>
          <a:ln/>
        </p:spPr>
        <p:txBody>
          <a:bodyPr wrap="square" lIns="0" tIns="0" rIns="0" bIns="0" rtlCol="0" anchor="ctr"/>
          <a:lstStyle/>
          <a:p>
            <a:pPr indent="0" marL="0">
              <a:buNone/>
            </a:pPr>
            <a:r>
              <a:rPr lang="en-US" sz="1300" dirty="0">
                <a:solidFill>
                  <a:schemeClr val="tx1"/>
                </a:solidFill>
              </a:rPr>
              <a:t>today’s monitors</a:t>
            </a:r>
            <a:endParaRPr lang="en-US" sz="1300" dirty="0"/>
          </a:p>
        </p:txBody>
      </p:sp>
      <p:sp>
        <p:nvSpPr>
          <p:cNvPr id="20" name="card"/>
          <p:cNvSpPr/>
          <p:nvPr/>
        </p:nvSpPr>
        <p:spPr>
          <a:xfrm>
            <a:off x="2798064" y="4160520"/>
            <a:ext cx="2103120" cy="1600200"/>
          </a:xfrm>
          <a:prstGeom prst="roundRect">
            <a:avLst>
              <a:gd name="adj" fmla="val 6857"/>
            </a:avLst>
          </a:prstGeom>
          <a:solidFill>
            <a:schemeClr val="bg2"/>
          </a:solidFill>
          <a:ln w="12700">
            <a:solidFill>
              <a:schemeClr val="bg2"/>
            </a:solidFill>
            <a:prstDash val="solid"/>
          </a:ln>
        </p:spPr>
      </p:sp>
      <p:sp>
        <p:nvSpPr>
          <p:cNvPr id="21" name="Text 19"/>
          <p:cNvSpPr txBox="1"/>
          <p:nvPr/>
        </p:nvSpPr>
        <p:spPr>
          <a:xfrm>
            <a:off x="2980944" y="4251960"/>
            <a:ext cx="1737360" cy="457200"/>
          </a:xfrm>
          <a:prstGeom prst="rect">
            <a:avLst/>
          </a:prstGeom>
          <a:noFill/>
          <a:ln/>
        </p:spPr>
        <p:txBody>
          <a:bodyPr wrap="square" lIns="0" tIns="0" rIns="0" bIns="0" rtlCol="0" anchor="ctr"/>
          <a:lstStyle/>
          <a:p>
            <a:pPr indent="0" marL="0">
              <a:buNone/>
            </a:pPr>
            <a:r>
              <a:rPr lang="en-US" sz="2400" b="1" dirty="0">
                <a:solidFill>
                  <a:schemeClr val="tx1"/>
                </a:solidFill>
              </a:rPr>
              <a:t>B</a:t>
            </a:r>
            <a:endParaRPr lang="en-US" sz="2400" dirty="0"/>
          </a:p>
        </p:txBody>
      </p:sp>
      <p:sp>
        <p:nvSpPr>
          <p:cNvPr id="22" name="Text 20"/>
          <p:cNvSpPr txBox="1"/>
          <p:nvPr/>
        </p:nvSpPr>
        <p:spPr>
          <a:xfrm>
            <a:off x="2980944" y="470916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Personal normal</a:t>
            </a:r>
            <a:endParaRPr lang="en-US" sz="1500" dirty="0"/>
          </a:p>
        </p:txBody>
      </p:sp>
      <p:sp>
        <p:nvSpPr>
          <p:cNvPr id="23" name="Text 21"/>
          <p:cNvSpPr txBox="1"/>
          <p:nvPr/>
        </p:nvSpPr>
        <p:spPr>
          <a:xfrm>
            <a:off x="2980944" y="5166360"/>
            <a:ext cx="1783080" cy="457200"/>
          </a:xfrm>
          <a:prstGeom prst="rect">
            <a:avLst/>
          </a:prstGeom>
          <a:noFill/>
          <a:ln/>
        </p:spPr>
        <p:txBody>
          <a:bodyPr wrap="square" lIns="0" tIns="0" rIns="0" bIns="0" rtlCol="0" anchor="ctr"/>
          <a:lstStyle/>
          <a:p>
            <a:pPr indent="0" marL="0">
              <a:buNone/>
            </a:pPr>
            <a:r>
              <a:rPr lang="en-US" sz="1300" dirty="0">
                <a:solidFill>
                  <a:schemeClr val="tx1"/>
                </a:solidFill>
              </a:rPr>
              <a:t>no learning</a:t>
            </a:r>
            <a:endParaRPr lang="en-US" sz="1300" dirty="0"/>
          </a:p>
        </p:txBody>
      </p:sp>
      <p:sp>
        <p:nvSpPr>
          <p:cNvPr id="24" name="card"/>
          <p:cNvSpPr/>
          <p:nvPr/>
        </p:nvSpPr>
        <p:spPr>
          <a:xfrm>
            <a:off x="5047488" y="4160520"/>
            <a:ext cx="2103120" cy="1600200"/>
          </a:xfrm>
          <a:prstGeom prst="roundRect">
            <a:avLst>
              <a:gd name="adj" fmla="val 6857"/>
            </a:avLst>
          </a:prstGeom>
          <a:solidFill>
            <a:schemeClr val="accent1"/>
          </a:solidFill>
          <a:ln w="12700">
            <a:solidFill>
              <a:schemeClr val="accent1"/>
            </a:solidFill>
            <a:prstDash val="solid"/>
          </a:ln>
        </p:spPr>
      </p:sp>
      <p:sp>
        <p:nvSpPr>
          <p:cNvPr id="25" name="Text 23"/>
          <p:cNvSpPr txBox="1"/>
          <p:nvPr/>
        </p:nvSpPr>
        <p:spPr>
          <a:xfrm>
            <a:off x="5230368" y="4251960"/>
            <a:ext cx="1737360" cy="457200"/>
          </a:xfrm>
          <a:prstGeom prst="rect">
            <a:avLst/>
          </a:prstGeom>
          <a:noFill/>
          <a:ln/>
        </p:spPr>
        <p:txBody>
          <a:bodyPr wrap="square" lIns="0" tIns="0" rIns="0" bIns="0" rtlCol="0" anchor="ctr"/>
          <a:lstStyle/>
          <a:p>
            <a:pPr indent="0" marL="0">
              <a:buNone/>
            </a:pPr>
            <a:r>
              <a:rPr lang="en-US" sz="2400" b="1" dirty="0">
                <a:solidFill>
                  <a:schemeClr val="bg1"/>
                </a:solidFill>
              </a:rPr>
              <a:t>C</a:t>
            </a:r>
            <a:endParaRPr lang="en-US" sz="2400" dirty="0"/>
          </a:p>
        </p:txBody>
      </p:sp>
      <p:sp>
        <p:nvSpPr>
          <p:cNvPr id="26" name="Text 24"/>
          <p:cNvSpPr txBox="1"/>
          <p:nvPr/>
        </p:nvSpPr>
        <p:spPr>
          <a:xfrm>
            <a:off x="5230368" y="4709160"/>
            <a:ext cx="1783080" cy="457200"/>
          </a:xfrm>
          <a:prstGeom prst="rect">
            <a:avLst/>
          </a:prstGeom>
          <a:noFill/>
          <a:ln/>
        </p:spPr>
        <p:txBody>
          <a:bodyPr wrap="square" lIns="0" tIns="0" rIns="0" bIns="0" rtlCol="0" anchor="ctr"/>
          <a:lstStyle/>
          <a:p>
            <a:pPr indent="0" marL="0">
              <a:buNone/>
            </a:pPr>
            <a:r>
              <a:rPr lang="en-US" sz="1500" b="1" dirty="0">
                <a:solidFill>
                  <a:schemeClr val="bg1"/>
                </a:solidFill>
              </a:rPr>
              <a:t>AdaptAlert</a:t>
            </a:r>
            <a:endParaRPr lang="en-US" sz="1500" dirty="0"/>
          </a:p>
        </p:txBody>
      </p:sp>
      <p:sp>
        <p:nvSpPr>
          <p:cNvPr id="27" name="Text 25"/>
          <p:cNvSpPr txBox="1"/>
          <p:nvPr/>
        </p:nvSpPr>
        <p:spPr>
          <a:xfrm>
            <a:off x="5230368" y="5166360"/>
            <a:ext cx="1783080" cy="457200"/>
          </a:xfrm>
          <a:prstGeom prst="rect">
            <a:avLst/>
          </a:prstGeom>
          <a:noFill/>
          <a:ln/>
        </p:spPr>
        <p:txBody>
          <a:bodyPr wrap="square" lIns="0" tIns="0" rIns="0" bIns="0" rtlCol="0" anchor="ctr"/>
          <a:lstStyle/>
          <a:p>
            <a:pPr indent="0" marL="0">
              <a:buNone/>
            </a:pPr>
            <a:r>
              <a:rPr lang="en-US" sz="1300" dirty="0">
                <a:solidFill>
                  <a:schemeClr val="bg1"/>
                </a:solidFill>
              </a:rPr>
              <a:t>our system</a:t>
            </a:r>
            <a:endParaRPr lang="en-US" sz="1300" dirty="0"/>
          </a:p>
        </p:txBody>
      </p:sp>
      <p:sp>
        <p:nvSpPr>
          <p:cNvPr id="28" name="card"/>
          <p:cNvSpPr/>
          <p:nvPr/>
        </p:nvSpPr>
        <p:spPr>
          <a:xfrm>
            <a:off x="7296912" y="4160520"/>
            <a:ext cx="2103120" cy="1600200"/>
          </a:xfrm>
          <a:prstGeom prst="roundRect">
            <a:avLst>
              <a:gd name="adj" fmla="val 6857"/>
            </a:avLst>
          </a:prstGeom>
          <a:solidFill>
            <a:schemeClr val="bg2"/>
          </a:solidFill>
          <a:ln w="12700">
            <a:solidFill>
              <a:schemeClr val="bg2"/>
            </a:solidFill>
            <a:prstDash val="solid"/>
          </a:ln>
        </p:spPr>
      </p:sp>
      <p:sp>
        <p:nvSpPr>
          <p:cNvPr id="29" name="Text 27"/>
          <p:cNvSpPr txBox="1"/>
          <p:nvPr/>
        </p:nvSpPr>
        <p:spPr>
          <a:xfrm>
            <a:off x="7479792" y="4251960"/>
            <a:ext cx="1737360" cy="457200"/>
          </a:xfrm>
          <a:prstGeom prst="rect">
            <a:avLst/>
          </a:prstGeom>
          <a:noFill/>
          <a:ln/>
        </p:spPr>
        <p:txBody>
          <a:bodyPr wrap="square" lIns="0" tIns="0" rIns="0" bIns="0" rtlCol="0" anchor="ctr"/>
          <a:lstStyle/>
          <a:p>
            <a:pPr indent="0" marL="0">
              <a:buNone/>
            </a:pPr>
            <a:r>
              <a:rPr lang="en-US" sz="2400" b="1" dirty="0">
                <a:solidFill>
                  <a:schemeClr val="tx1"/>
                </a:solidFill>
              </a:rPr>
              <a:t>D</a:t>
            </a:r>
            <a:endParaRPr lang="en-US" sz="2400" dirty="0"/>
          </a:p>
        </p:txBody>
      </p:sp>
      <p:sp>
        <p:nvSpPr>
          <p:cNvPr id="30" name="Text 28"/>
          <p:cNvSpPr txBox="1"/>
          <p:nvPr/>
        </p:nvSpPr>
        <p:spPr>
          <a:xfrm>
            <a:off x="7479792" y="470916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Unguarded learning</a:t>
            </a:r>
            <a:endParaRPr lang="en-US" sz="1500" dirty="0"/>
          </a:p>
        </p:txBody>
      </p:sp>
      <p:sp>
        <p:nvSpPr>
          <p:cNvPr id="31" name="Text 29"/>
          <p:cNvSpPr txBox="1"/>
          <p:nvPr/>
        </p:nvSpPr>
        <p:spPr>
          <a:xfrm>
            <a:off x="7479792" y="5166360"/>
            <a:ext cx="1783080" cy="457200"/>
          </a:xfrm>
          <a:prstGeom prst="rect">
            <a:avLst/>
          </a:prstGeom>
          <a:noFill/>
          <a:ln/>
        </p:spPr>
        <p:txBody>
          <a:bodyPr wrap="square" lIns="0" tIns="0" rIns="0" bIns="0" rtlCol="0" anchor="ctr"/>
          <a:lstStyle/>
          <a:p>
            <a:pPr indent="0" marL="0">
              <a:buNone/>
            </a:pPr>
            <a:r>
              <a:rPr lang="en-US" sz="1300" dirty="0">
                <a:solidFill>
                  <a:schemeClr val="tx1"/>
                </a:solidFill>
              </a:rPr>
              <a:t>ablation: no safeguards</a:t>
            </a:r>
            <a:endParaRPr lang="en-US" sz="1300" dirty="0"/>
          </a:p>
        </p:txBody>
      </p:sp>
      <p:sp>
        <p:nvSpPr>
          <p:cNvPr id="32" name="card"/>
          <p:cNvSpPr/>
          <p:nvPr/>
        </p:nvSpPr>
        <p:spPr>
          <a:xfrm>
            <a:off x="9546336" y="4160520"/>
            <a:ext cx="2103120" cy="1600200"/>
          </a:xfrm>
          <a:prstGeom prst="roundRect">
            <a:avLst>
              <a:gd name="adj" fmla="val 6857"/>
            </a:avLst>
          </a:prstGeom>
          <a:solidFill>
            <a:schemeClr val="bg2"/>
          </a:solidFill>
          <a:ln w="12700">
            <a:solidFill>
              <a:schemeClr val="bg2"/>
            </a:solidFill>
            <a:prstDash val="solid"/>
          </a:ln>
        </p:spPr>
      </p:sp>
      <p:sp>
        <p:nvSpPr>
          <p:cNvPr id="33" name="Text 31"/>
          <p:cNvSpPr txBox="1"/>
          <p:nvPr/>
        </p:nvSpPr>
        <p:spPr>
          <a:xfrm>
            <a:off x="9729216" y="4251960"/>
            <a:ext cx="1737360" cy="457200"/>
          </a:xfrm>
          <a:prstGeom prst="rect">
            <a:avLst/>
          </a:prstGeom>
          <a:noFill/>
          <a:ln/>
        </p:spPr>
        <p:txBody>
          <a:bodyPr wrap="square" lIns="0" tIns="0" rIns="0" bIns="0" rtlCol="0" anchor="ctr"/>
          <a:lstStyle/>
          <a:p>
            <a:pPr indent="0" marL="0">
              <a:buNone/>
            </a:pPr>
            <a:r>
              <a:rPr lang="en-US" sz="2400" b="1" dirty="0">
                <a:solidFill>
                  <a:schemeClr val="tx1"/>
                </a:solidFill>
              </a:rPr>
              <a:t>E</a:t>
            </a:r>
            <a:endParaRPr lang="en-US" sz="2400" dirty="0"/>
          </a:p>
        </p:txBody>
      </p:sp>
      <p:sp>
        <p:nvSpPr>
          <p:cNvPr id="34" name="Text 32"/>
          <p:cNvSpPr txBox="1"/>
          <p:nvPr/>
        </p:nvSpPr>
        <p:spPr>
          <a:xfrm>
            <a:off x="9729216" y="4709160"/>
            <a:ext cx="1783080" cy="457200"/>
          </a:xfrm>
          <a:prstGeom prst="rect">
            <a:avLst/>
          </a:prstGeom>
          <a:noFill/>
          <a:ln/>
        </p:spPr>
        <p:txBody>
          <a:bodyPr wrap="square" lIns="0" tIns="0" rIns="0" bIns="0" rtlCol="0" anchor="ctr"/>
          <a:lstStyle/>
          <a:p>
            <a:pPr indent="0" marL="0">
              <a:buNone/>
            </a:pPr>
            <a:r>
              <a:rPr lang="en-US" sz="1500" b="1" dirty="0">
                <a:solidFill>
                  <a:schemeClr val="tx1"/>
                </a:solidFill>
              </a:rPr>
              <a:t>AdaptAlert + federated</a:t>
            </a:r>
            <a:endParaRPr lang="en-US" sz="1500" dirty="0"/>
          </a:p>
        </p:txBody>
      </p:sp>
      <p:sp>
        <p:nvSpPr>
          <p:cNvPr id="35" name="Text 33"/>
          <p:cNvSpPr txBox="1"/>
          <p:nvPr/>
        </p:nvSpPr>
        <p:spPr>
          <a:xfrm>
            <a:off x="9729216" y="5166360"/>
            <a:ext cx="1783080" cy="457200"/>
          </a:xfrm>
          <a:prstGeom prst="rect">
            <a:avLst/>
          </a:prstGeom>
          <a:noFill/>
          <a:ln/>
        </p:spPr>
        <p:txBody>
          <a:bodyPr wrap="square" lIns="0" tIns="0" rIns="0" bIns="0" rtlCol="0" anchor="ctr"/>
          <a:lstStyle/>
          <a:p>
            <a:pPr indent="0" marL="0">
              <a:buNone/>
            </a:pPr>
            <a:r>
              <a:rPr lang="en-US" sz="1300" dirty="0">
                <a:solidFill>
                  <a:schemeClr val="tx1"/>
                </a:solidFill>
              </a:rPr>
              <a:t>shared prior for new patients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Results: about 97% fewer false alarms</a:t>
            </a:r>
            <a:endParaRPr lang="en-US" sz="3600" dirty="0"/>
          </a:p>
        </p:txBody>
      </p:sp>
      <p:graphicFrame>
        <p:nvGraphicFramePr>
          <p:cNvPr id="3" name="Chart 0" descr=""/>
          <p:cNvGraphicFramePr/>
          <p:nvPr/>
        </p:nvGraphicFramePr>
        <p:xfrm>
          <a:off x="548640" y="1234440"/>
          <a:ext cx="676656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80960" y="1280160"/>
            <a:ext cx="4023360" cy="640080"/>
          </a:xfrm>
          <a:prstGeom prst="rect">
            <a:avLst/>
          </a:prstGeom>
          <a:noFill/>
          <a:ln/>
        </p:spPr>
        <p:txBody>
          <a:bodyPr wrap="square" lIns="0" tIns="0" rIns="0" bIns="0" rtlCol="0" anchor="ctr"/>
          <a:lstStyle/>
          <a:p>
            <a:pPr indent="0" marL="0">
              <a:buNone/>
            </a:pPr>
            <a:r>
              <a:rPr lang="en-US" sz="3400" b="1" dirty="0">
                <a:solidFill>
                  <a:schemeClr val="accent1"/>
                </a:solidFill>
              </a:rPr>
              <a:t>96.9%</a:t>
            </a:r>
            <a:endParaRPr lang="en-US" sz="3400" dirty="0"/>
          </a:p>
        </p:txBody>
      </p:sp>
      <p:sp>
        <p:nvSpPr>
          <p:cNvPr id="5" name="Text 2"/>
          <p:cNvSpPr txBox="1"/>
          <p:nvPr/>
        </p:nvSpPr>
        <p:spPr>
          <a:xfrm>
            <a:off x="7680960" y="1920240"/>
            <a:ext cx="4023360" cy="411480"/>
          </a:xfrm>
          <a:prstGeom prst="rect">
            <a:avLst/>
          </a:prstGeom>
          <a:noFill/>
          <a:ln/>
        </p:spPr>
        <p:txBody>
          <a:bodyPr wrap="square" lIns="0" tIns="0" rIns="0" bIns="0" rtlCol="0" anchor="ctr"/>
          <a:lstStyle/>
          <a:p>
            <a:pPr indent="0" marL="0">
              <a:buNone/>
            </a:pPr>
            <a:r>
              <a:rPr lang="en-US" sz="1500" dirty="0">
                <a:solidFill>
                  <a:schemeClr val="tx2"/>
                </a:solidFill>
              </a:rPr>
              <a:t>fewer false alarms than fixed thresholds</a:t>
            </a:r>
            <a:endParaRPr lang="en-US" sz="1500" dirty="0"/>
          </a:p>
        </p:txBody>
      </p:sp>
      <p:sp>
        <p:nvSpPr>
          <p:cNvPr id="6" name="Text 3"/>
          <p:cNvSpPr txBox="1"/>
          <p:nvPr/>
        </p:nvSpPr>
        <p:spPr>
          <a:xfrm>
            <a:off x="7680960" y="2514600"/>
            <a:ext cx="4023360" cy="640080"/>
          </a:xfrm>
          <a:prstGeom prst="rect">
            <a:avLst/>
          </a:prstGeom>
          <a:noFill/>
          <a:ln/>
        </p:spPr>
        <p:txBody>
          <a:bodyPr wrap="square" lIns="0" tIns="0" rIns="0" bIns="0" rtlCol="0" anchor="ctr"/>
          <a:lstStyle/>
          <a:p>
            <a:pPr indent="0" marL="0">
              <a:buNone/>
            </a:pPr>
            <a:r>
              <a:rPr lang="en-US" sz="3400" b="1" dirty="0">
                <a:solidFill>
                  <a:schemeClr val="accent3"/>
                </a:solidFill>
              </a:rPr>
              <a:t>100%</a:t>
            </a:r>
            <a:endParaRPr lang="en-US" sz="3400" dirty="0"/>
          </a:p>
        </p:txBody>
      </p:sp>
      <p:sp>
        <p:nvSpPr>
          <p:cNvPr id="7" name="Text 4"/>
          <p:cNvSpPr txBox="1"/>
          <p:nvPr/>
        </p:nvSpPr>
        <p:spPr>
          <a:xfrm>
            <a:off x="7680960" y="3154680"/>
            <a:ext cx="4023360" cy="411480"/>
          </a:xfrm>
          <a:prstGeom prst="rect">
            <a:avLst/>
          </a:prstGeom>
          <a:noFill/>
          <a:ln/>
        </p:spPr>
        <p:txBody>
          <a:bodyPr wrap="square" lIns="0" tIns="0" rIns="0" bIns="0" rtlCol="0" anchor="ctr"/>
          <a:lstStyle/>
          <a:p>
            <a:pPr indent="0" marL="0">
              <a:buNone/>
            </a:pPr>
            <a:r>
              <a:rPr lang="en-US" sz="1500" dirty="0">
                <a:solidFill>
                  <a:schemeClr val="tx2"/>
                </a:solidFill>
              </a:rPr>
              <a:t>real events and critical events caught</a:t>
            </a:r>
            <a:endParaRPr lang="en-US" sz="1500" dirty="0"/>
          </a:p>
        </p:txBody>
      </p:sp>
      <p:sp>
        <p:nvSpPr>
          <p:cNvPr id="8" name="Text 5"/>
          <p:cNvSpPr txBox="1"/>
          <p:nvPr/>
        </p:nvSpPr>
        <p:spPr>
          <a:xfrm>
            <a:off x="7680960" y="3749040"/>
            <a:ext cx="4023360" cy="640080"/>
          </a:xfrm>
          <a:prstGeom prst="rect">
            <a:avLst/>
          </a:prstGeom>
          <a:noFill/>
          <a:ln/>
        </p:spPr>
        <p:txBody>
          <a:bodyPr wrap="square" lIns="0" tIns="0" rIns="0" bIns="0" rtlCol="0" anchor="ctr"/>
          <a:lstStyle/>
          <a:p>
            <a:pPr indent="0" marL="0">
              <a:buNone/>
            </a:pPr>
            <a:r>
              <a:rPr lang="en-US" sz="3400" b="1" dirty="0">
                <a:solidFill>
                  <a:schemeClr val="accent2"/>
                </a:solidFill>
              </a:rPr>
              <a:t>40% vs 3%</a:t>
            </a:r>
            <a:endParaRPr lang="en-US" sz="3400" dirty="0"/>
          </a:p>
        </p:txBody>
      </p:sp>
      <p:sp>
        <p:nvSpPr>
          <p:cNvPr id="9" name="Text 6"/>
          <p:cNvSpPr txBox="1"/>
          <p:nvPr/>
        </p:nvSpPr>
        <p:spPr>
          <a:xfrm>
            <a:off x="7680960" y="4389120"/>
            <a:ext cx="4023360" cy="411480"/>
          </a:xfrm>
          <a:prstGeom prst="rect">
            <a:avLst/>
          </a:prstGeom>
          <a:noFill/>
          <a:ln/>
        </p:spPr>
        <p:txBody>
          <a:bodyPr wrap="square" lIns="0" tIns="0" rIns="0" bIns="0" rtlCol="0" anchor="ctr"/>
          <a:lstStyle/>
          <a:p>
            <a:pPr indent="0" marL="0">
              <a:buNone/>
            </a:pPr>
            <a:r>
              <a:rPr lang="en-US" sz="1500" dirty="0">
                <a:solidFill>
                  <a:schemeClr val="tx2"/>
                </a:solidFill>
              </a:rPr>
              <a:t>of alerts were real (precision)</a:t>
            </a:r>
            <a:endParaRPr lang="en-US" sz="1500" dirty="0"/>
          </a:p>
        </p:txBody>
      </p:sp>
      <p:sp>
        <p:nvSpPr>
          <p:cNvPr id="10" name="Text 7"/>
          <p:cNvSpPr txBox="1"/>
          <p:nvPr/>
        </p:nvSpPr>
        <p:spPr>
          <a:xfrm>
            <a:off x="7680960" y="4983480"/>
            <a:ext cx="4023360" cy="640080"/>
          </a:xfrm>
          <a:prstGeom prst="rect">
            <a:avLst/>
          </a:prstGeom>
          <a:noFill/>
          <a:ln/>
        </p:spPr>
        <p:txBody>
          <a:bodyPr wrap="square" lIns="0" tIns="0" rIns="0" bIns="0" rtlCol="0" anchor="ctr"/>
          <a:lstStyle/>
          <a:p>
            <a:pPr indent="0" marL="0">
              <a:buNone/>
            </a:pPr>
            <a:r>
              <a:rPr lang="en-US" sz="3400" b="1" dirty="0">
                <a:solidFill>
                  <a:schemeClr val="accent5"/>
                </a:solidFill>
              </a:rPr>
              <a:t>0.47 → 0.06</a:t>
            </a:r>
            <a:endParaRPr lang="en-US" sz="3400" dirty="0"/>
          </a:p>
        </p:txBody>
      </p:sp>
      <p:sp>
        <p:nvSpPr>
          <p:cNvPr id="11" name="Text 8"/>
          <p:cNvSpPr txBox="1"/>
          <p:nvPr/>
        </p:nvSpPr>
        <p:spPr>
          <a:xfrm>
            <a:off x="7680960" y="5623560"/>
            <a:ext cx="4023360" cy="411480"/>
          </a:xfrm>
          <a:prstGeom prst="rect">
            <a:avLst/>
          </a:prstGeom>
          <a:noFill/>
          <a:ln/>
        </p:spPr>
        <p:txBody>
          <a:bodyPr wrap="square" lIns="0" tIns="0" rIns="0" bIns="0" rtlCol="0" anchor="ctr"/>
          <a:lstStyle/>
          <a:p>
            <a:pPr indent="0" marL="0">
              <a:buNone/>
            </a:pPr>
            <a:r>
              <a:rPr lang="en-US" sz="1500" dirty="0">
                <a:solidFill>
                  <a:schemeClr val="tx2"/>
                </a:solidFill>
              </a:rPr>
              <a:t>week-1 false alarms with the federated prior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Safe even when people dismiss real alerts</a:t>
            </a:r>
            <a:endParaRPr lang="en-US" sz="3600" dirty="0"/>
          </a:p>
        </p:txBody>
      </p:sp>
      <p:graphicFrame>
        <p:nvGraphicFramePr>
          <p:cNvPr id="3" name="Chart 0" descr=""/>
          <p:cNvGraphicFramePr/>
          <p:nvPr/>
        </p:nvGraphicFramePr>
        <p:xfrm>
          <a:off x="548640" y="123444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325880"/>
            <a:ext cx="3749040" cy="822960"/>
          </a:xfrm>
          <a:prstGeom prst="rect">
            <a:avLst/>
          </a:prstGeom>
          <a:noFill/>
          <a:ln/>
        </p:spPr>
        <p:txBody>
          <a:bodyPr wrap="square" lIns="0" tIns="0" rIns="0" bIns="0" rtlCol="0" anchor="t"/>
          <a:lstStyle/>
          <a:p>
            <a:pPr indent="0" marL="0">
              <a:buNone/>
            </a:pPr>
            <a:r>
              <a:rPr lang="en-US" sz="2000" b="1" dirty="0">
                <a:solidFill>
                  <a:schemeClr val="tx1"/>
                </a:solidFill>
              </a:rPr>
              <a:t>What if patients press “false alarm” on real alerts?</a:t>
            </a:r>
            <a:endParaRPr lang="en-US" sz="2000" dirty="0"/>
          </a:p>
        </p:txBody>
      </p:sp>
      <p:sp>
        <p:nvSpPr>
          <p:cNvPr id="5" name="Text 2"/>
          <p:cNvSpPr txBox="1"/>
          <p:nvPr/>
        </p:nvSpPr>
        <p:spPr>
          <a:xfrm>
            <a:off x="7863840" y="2286000"/>
            <a:ext cx="3749040"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Even when half of the real alerts are dismissed, sensitivity stays near 94%.</a:t>
            </a:r>
            <a:endParaRPr lang="en-US" sz="1600" dirty="0"/>
          </a:p>
          <a:p>
            <a:pPr marL="342900" indent="-342900">
              <a:spcAft>
                <a:spcPts val="1000"/>
              </a:spcAft>
              <a:buSzPct val="100000"/>
              <a:buChar char="•"/>
            </a:pPr>
            <a:r>
              <a:rPr lang="en-US" sz="1600" dirty="0">
                <a:solidFill>
                  <a:schemeClr val="tx1"/>
                </a:solidFill>
              </a:rPr>
              <a:t>Critical events stay at 100%, because the safety floor does not use the learned model.</a:t>
            </a:r>
            <a:endParaRPr lang="en-US" sz="1600" dirty="0"/>
          </a:p>
          <a:p>
            <a:pPr marL="342900" indent="-342900">
              <a:spcAft>
                <a:spcPts val="1000"/>
              </a:spcAft>
              <a:buSzPct val="100000"/>
              <a:buChar char="•"/>
            </a:pPr>
            <a:r>
              <a:rPr lang="en-US" sz="1600" dirty="0">
                <a:solidFill>
                  <a:schemeClr val="tx1"/>
                </a:solidFill>
              </a:rPr>
              <a:t>Doctor labels outweigh patient answers, which limits the damage.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One website, three apps</a:t>
            </a:r>
            <a:endParaRPr lang="en-US" sz="3600" dirty="0"/>
          </a:p>
        </p:txBody>
      </p:sp>
      <p:sp>
        <p:nvSpPr>
          <p:cNvPr id="3" name="card"/>
          <p:cNvSpPr/>
          <p:nvPr/>
        </p:nvSpPr>
        <p:spPr>
          <a:xfrm>
            <a:off x="548640" y="1280160"/>
            <a:ext cx="2377440" cy="4846320"/>
          </a:xfrm>
          <a:prstGeom prst="roundRect">
            <a:avLst>
              <a:gd name="adj" fmla="val 461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 circle"/>
          <p:cNvSpPr/>
          <p:nvPr/>
        </p:nvSpPr>
        <p:spPr>
          <a:xfrm>
            <a:off x="822960" y="1508760"/>
            <a:ext cx="685800" cy="68580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994410" y="1680210"/>
            <a:ext cx="342900" cy="342900"/>
          </a:xfrm>
          <a:prstGeom prst="rect">
            <a:avLst/>
          </a:prstGeom>
        </p:spPr>
      </p:pic>
      <p:sp>
        <p:nvSpPr>
          <p:cNvPr id="6" name="Text 3"/>
          <p:cNvSpPr txBox="1"/>
          <p:nvPr/>
        </p:nvSpPr>
        <p:spPr>
          <a:xfrm>
            <a:off x="1645920" y="1600200"/>
            <a:ext cx="1188720" cy="502920"/>
          </a:xfrm>
          <a:prstGeom prst="rect">
            <a:avLst/>
          </a:prstGeom>
          <a:noFill/>
          <a:ln/>
        </p:spPr>
        <p:txBody>
          <a:bodyPr wrap="square" lIns="0" tIns="0" rIns="0" bIns="0" rtlCol="0" anchor="ctr"/>
          <a:lstStyle/>
          <a:p>
            <a:pPr indent="0" marL="0">
              <a:buNone/>
            </a:pPr>
            <a:r>
              <a:rPr lang="en-US" sz="2200" b="1" dirty="0">
                <a:solidFill>
                  <a:schemeClr val="tx1"/>
                </a:solidFill>
              </a:rPr>
              <a:t>Patient</a:t>
            </a:r>
            <a:endParaRPr lang="en-US" sz="2200" dirty="0"/>
          </a:p>
        </p:txBody>
      </p:sp>
      <p:sp>
        <p:nvSpPr>
          <p:cNvPr id="7" name="Text 4"/>
          <p:cNvSpPr txBox="1"/>
          <p:nvPr/>
        </p:nvSpPr>
        <p:spPr>
          <a:xfrm>
            <a:off x="822960" y="2423160"/>
            <a:ext cx="192024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Live vitals and status</a:t>
            </a:r>
            <a:endParaRPr lang="en-US" sz="1400" dirty="0"/>
          </a:p>
          <a:p>
            <a:pPr marL="342900" indent="-342900">
              <a:spcAft>
                <a:spcPts val="800"/>
              </a:spcAft>
              <a:buSzPct val="100000"/>
              <a:buChar char="•"/>
            </a:pPr>
            <a:r>
              <a:rPr lang="en-US" sz="1400" dirty="0">
                <a:solidFill>
                  <a:schemeClr val="tx1"/>
                </a:solidFill>
              </a:rPr>
              <a:t>Explained alerts and feedback</a:t>
            </a:r>
            <a:endParaRPr lang="en-US" sz="1400" dirty="0"/>
          </a:p>
          <a:p>
            <a:pPr marL="342900" indent="-342900">
              <a:spcAft>
                <a:spcPts val="800"/>
              </a:spcAft>
              <a:buSzPct val="100000"/>
              <a:buChar char="•"/>
            </a:pPr>
            <a:r>
              <a:rPr lang="en-US" sz="1400" dirty="0">
                <a:solidFill>
                  <a:schemeClr val="tx1"/>
                </a:solidFill>
              </a:rPr>
              <a:t>Appointments and doctors</a:t>
            </a:r>
            <a:endParaRPr lang="en-US" sz="1400" dirty="0"/>
          </a:p>
          <a:p>
            <a:pPr marL="342900" indent="-342900">
              <a:spcAft>
                <a:spcPts val="800"/>
              </a:spcAft>
              <a:buSzPct val="100000"/>
              <a:buChar char="•"/>
            </a:pPr>
            <a:r>
              <a:rPr lang="en-US" sz="1400" dirty="0">
                <a:solidFill>
                  <a:schemeClr val="tx1"/>
                </a:solidFill>
              </a:rPr>
              <a:t>Records, insurance, family</a:t>
            </a:r>
            <a:endParaRPr lang="en-US" sz="1400" dirty="0"/>
          </a:p>
          <a:p>
            <a:pPr marL="342900" indent="-342900">
              <a:spcAft>
                <a:spcPts val="800"/>
              </a:spcAft>
              <a:buSzPct val="100000"/>
              <a:buChar char="•"/>
            </a:pPr>
            <a:r>
              <a:rPr lang="en-US" sz="1400" dirty="0">
                <a:solidFill>
                  <a:schemeClr val="tx1"/>
                </a:solidFill>
              </a:rPr>
              <a:t>SOS and Medical ID</a:t>
            </a:r>
            <a:endParaRPr lang="en-US" sz="1400" dirty="0"/>
          </a:p>
        </p:txBody>
      </p:sp>
      <p:sp>
        <p:nvSpPr>
          <p:cNvPr id="8" name="card"/>
          <p:cNvSpPr/>
          <p:nvPr/>
        </p:nvSpPr>
        <p:spPr>
          <a:xfrm>
            <a:off x="3108960" y="1280160"/>
            <a:ext cx="2377440" cy="4846320"/>
          </a:xfrm>
          <a:prstGeom prst="roundRect">
            <a:avLst>
              <a:gd name="adj" fmla="val 461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 circle"/>
          <p:cNvSpPr/>
          <p:nvPr/>
        </p:nvSpPr>
        <p:spPr>
          <a:xfrm>
            <a:off x="3383280" y="1508760"/>
            <a:ext cx="685800" cy="685800"/>
          </a:xfrm>
          <a:prstGeom prst="ellipse">
            <a:avLst/>
          </a:prstGeom>
          <a:solidFill>
            <a:schemeClr val="accent5"/>
          </a:solidFill>
          <a:ln w="12700">
            <a:solidFill>
              <a:schemeClr val="accent5"/>
            </a:solidFill>
            <a:prstDash val="solid"/>
          </a:ln>
        </p:spPr>
      </p:sp>
      <p:pic>
        <p:nvPicPr>
          <p:cNvPr id="10" name="icon" descr="preencoded.png">    </p:cNvPr>
          <p:cNvPicPr>
            <a:picLocks noChangeAspect="1"/>
          </p:cNvPicPr>
          <p:nvPr/>
        </p:nvPicPr>
        <p:blipFill>
          <a:blip r:embed="rId2"/>
          <a:stretch>
            <a:fillRect/>
          </a:stretch>
        </p:blipFill>
        <p:spPr>
          <a:xfrm>
            <a:off x="3554730" y="1680210"/>
            <a:ext cx="342900" cy="342900"/>
          </a:xfrm>
          <a:prstGeom prst="rect">
            <a:avLst/>
          </a:prstGeom>
        </p:spPr>
      </p:pic>
      <p:sp>
        <p:nvSpPr>
          <p:cNvPr id="11" name="Text 7"/>
          <p:cNvSpPr txBox="1"/>
          <p:nvPr/>
        </p:nvSpPr>
        <p:spPr>
          <a:xfrm>
            <a:off x="4206240" y="1600200"/>
            <a:ext cx="1188720" cy="502920"/>
          </a:xfrm>
          <a:prstGeom prst="rect">
            <a:avLst/>
          </a:prstGeom>
          <a:noFill/>
          <a:ln/>
        </p:spPr>
        <p:txBody>
          <a:bodyPr wrap="square" lIns="0" tIns="0" rIns="0" bIns="0" rtlCol="0" anchor="ctr"/>
          <a:lstStyle/>
          <a:p>
            <a:pPr indent="0" marL="0">
              <a:buNone/>
            </a:pPr>
            <a:r>
              <a:rPr lang="en-US" sz="2200" b="1" dirty="0">
                <a:solidFill>
                  <a:schemeClr val="tx1"/>
                </a:solidFill>
              </a:rPr>
              <a:t>Doctor</a:t>
            </a:r>
            <a:endParaRPr lang="en-US" sz="2200" dirty="0"/>
          </a:p>
        </p:txBody>
      </p:sp>
      <p:sp>
        <p:nvSpPr>
          <p:cNvPr id="12" name="Text 8"/>
          <p:cNvSpPr txBox="1"/>
          <p:nvPr/>
        </p:nvSpPr>
        <p:spPr>
          <a:xfrm>
            <a:off x="3383280" y="2423160"/>
            <a:ext cx="192024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Today dashboard</a:t>
            </a:r>
            <a:endParaRPr lang="en-US" sz="1400" dirty="0"/>
          </a:p>
          <a:p>
            <a:pPr marL="342900" indent="-342900">
              <a:spcAft>
                <a:spcPts val="800"/>
              </a:spcAft>
              <a:buSzPct val="100000"/>
              <a:buChar char="•"/>
            </a:pPr>
            <a:r>
              <a:rPr lang="en-US" sz="1400" dirty="0">
                <a:solidFill>
                  <a:schemeClr val="tx1"/>
                </a:solidFill>
              </a:rPr>
              <a:t>Patients: notes, prescriptions</a:t>
            </a:r>
            <a:endParaRPr lang="en-US" sz="1400" dirty="0"/>
          </a:p>
          <a:p>
            <a:pPr marL="342900" indent="-342900">
              <a:spcAft>
                <a:spcPts val="800"/>
              </a:spcAft>
              <a:buSzPct val="100000"/>
              <a:buChar char="•"/>
            </a:pPr>
            <a:r>
              <a:rPr lang="en-US" sz="1400" dirty="0">
                <a:solidFill>
                  <a:schemeClr val="tx1"/>
                </a:solidFill>
              </a:rPr>
              <a:t>Schedule and follow-ups</a:t>
            </a:r>
            <a:endParaRPr lang="en-US" sz="1400" dirty="0"/>
          </a:p>
          <a:p>
            <a:pPr marL="342900" indent="-342900">
              <a:spcAft>
                <a:spcPts val="800"/>
              </a:spcAft>
              <a:buSzPct val="100000"/>
              <a:buChar char="•"/>
            </a:pPr>
            <a:r>
              <a:rPr lang="en-US" sz="1400" dirty="0">
                <a:solidFill>
                  <a:schemeClr val="tx1"/>
                </a:solidFill>
              </a:rPr>
              <a:t>Review AdaptAlert alerts</a:t>
            </a:r>
            <a:endParaRPr lang="en-US" sz="1400" dirty="0"/>
          </a:p>
          <a:p>
            <a:pPr marL="342900" indent="-342900">
              <a:spcAft>
                <a:spcPts val="800"/>
              </a:spcAft>
              <a:buSzPct val="100000"/>
              <a:buChar char="•"/>
            </a:pPr>
            <a:r>
              <a:rPr lang="en-US" sz="1400" dirty="0">
                <a:solidFill>
                  <a:schemeClr val="tx1"/>
                </a:solidFill>
              </a:rPr>
              <a:t>Ward with NEWS2 scores</a:t>
            </a:r>
            <a:endParaRPr lang="en-US" sz="1400" dirty="0"/>
          </a:p>
        </p:txBody>
      </p:sp>
      <p:sp>
        <p:nvSpPr>
          <p:cNvPr id="13" name="card"/>
          <p:cNvSpPr/>
          <p:nvPr/>
        </p:nvSpPr>
        <p:spPr>
          <a:xfrm>
            <a:off x="5669280" y="1280160"/>
            <a:ext cx="2377440" cy="4846320"/>
          </a:xfrm>
          <a:prstGeom prst="roundRect">
            <a:avLst>
              <a:gd name="adj" fmla="val 461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 circle"/>
          <p:cNvSpPr/>
          <p:nvPr/>
        </p:nvSpPr>
        <p:spPr>
          <a:xfrm>
            <a:off x="5943600" y="1508760"/>
            <a:ext cx="685800" cy="685800"/>
          </a:xfrm>
          <a:prstGeom prst="ellipse">
            <a:avLst/>
          </a:prstGeom>
          <a:solidFill>
            <a:schemeClr val="accent6"/>
          </a:solidFill>
          <a:ln w="12700">
            <a:solidFill>
              <a:schemeClr val="accent6"/>
            </a:solidFill>
            <a:prstDash val="solid"/>
          </a:ln>
        </p:spPr>
      </p:sp>
      <p:pic>
        <p:nvPicPr>
          <p:cNvPr id="15" name="icon" descr="preencoded.png">    </p:cNvPr>
          <p:cNvPicPr>
            <a:picLocks noChangeAspect="1"/>
          </p:cNvPicPr>
          <p:nvPr/>
        </p:nvPicPr>
        <p:blipFill>
          <a:blip r:embed="rId3"/>
          <a:stretch>
            <a:fillRect/>
          </a:stretch>
        </p:blipFill>
        <p:spPr>
          <a:xfrm>
            <a:off x="6115050" y="1680210"/>
            <a:ext cx="342900" cy="342900"/>
          </a:xfrm>
          <a:prstGeom prst="rect">
            <a:avLst/>
          </a:prstGeom>
        </p:spPr>
      </p:pic>
      <p:sp>
        <p:nvSpPr>
          <p:cNvPr id="16" name="Text 11"/>
          <p:cNvSpPr txBox="1"/>
          <p:nvPr/>
        </p:nvSpPr>
        <p:spPr>
          <a:xfrm>
            <a:off x="6766560" y="1600200"/>
            <a:ext cx="1188720" cy="502920"/>
          </a:xfrm>
          <a:prstGeom prst="rect">
            <a:avLst/>
          </a:prstGeom>
          <a:noFill/>
          <a:ln/>
        </p:spPr>
        <p:txBody>
          <a:bodyPr wrap="square" lIns="0" tIns="0" rIns="0" bIns="0" rtlCol="0" anchor="ctr"/>
          <a:lstStyle/>
          <a:p>
            <a:pPr indent="0" marL="0">
              <a:buNone/>
            </a:pPr>
            <a:r>
              <a:rPr lang="en-US" sz="2200" b="1" dirty="0">
                <a:solidFill>
                  <a:schemeClr val="tx1"/>
                </a:solidFill>
              </a:rPr>
              <a:t>Nurse</a:t>
            </a:r>
            <a:endParaRPr lang="en-US" sz="2200" dirty="0"/>
          </a:p>
        </p:txBody>
      </p:sp>
      <p:sp>
        <p:nvSpPr>
          <p:cNvPr id="17" name="Text 12"/>
          <p:cNvSpPr txBox="1"/>
          <p:nvPr/>
        </p:nvSpPr>
        <p:spPr>
          <a:xfrm>
            <a:off x="5943600" y="2423160"/>
            <a:ext cx="192024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Shift tasks with times</a:t>
            </a:r>
            <a:endParaRPr lang="en-US" sz="1400" dirty="0"/>
          </a:p>
          <a:p>
            <a:pPr marL="342900" indent="-342900">
              <a:spcAft>
                <a:spcPts val="800"/>
              </a:spcAft>
              <a:buSzPct val="100000"/>
              <a:buChar char="•"/>
            </a:pPr>
            <a:r>
              <a:rPr lang="en-US" sz="1400" dirty="0">
                <a:solidFill>
                  <a:schemeClr val="tx1"/>
                </a:solidFill>
              </a:rPr>
              <a:t>Handover notes</a:t>
            </a:r>
            <a:endParaRPr lang="en-US" sz="1400" dirty="0"/>
          </a:p>
          <a:p>
            <a:pPr marL="342900" indent="-342900">
              <a:spcAft>
                <a:spcPts val="800"/>
              </a:spcAft>
              <a:buSzPct val="100000"/>
              <a:buChar char="•"/>
            </a:pPr>
            <a:r>
              <a:rPr lang="en-US" sz="1400" dirty="0">
                <a:solidFill>
                  <a:schemeClr val="tx1"/>
                </a:solidFill>
              </a:rPr>
              <a:t>Ward alerts: acknowledge</a:t>
            </a:r>
            <a:endParaRPr lang="en-US" sz="1400" dirty="0"/>
          </a:p>
          <a:p>
            <a:pPr marL="342900" indent="-342900">
              <a:spcAft>
                <a:spcPts val="800"/>
              </a:spcAft>
              <a:buSzPct val="100000"/>
              <a:buChar char="•"/>
            </a:pPr>
            <a:r>
              <a:rPr lang="en-US" sz="1400" dirty="0">
                <a:solidFill>
                  <a:schemeClr val="tx1"/>
                </a:solidFill>
              </a:rPr>
              <a:t>Home patient band status</a:t>
            </a:r>
            <a:endParaRPr lang="en-US" sz="1400" dirty="0"/>
          </a:p>
          <a:p>
            <a:pPr marL="342900" indent="-342900">
              <a:spcAft>
                <a:spcPts val="800"/>
              </a:spcAft>
              <a:buSzPct val="100000"/>
              <a:buChar char="•"/>
            </a:pPr>
            <a:r>
              <a:rPr lang="en-US" sz="1400" dirty="0">
                <a:solidFill>
                  <a:schemeClr val="tx1"/>
                </a:solidFill>
              </a:rPr>
              <a:t>Patient notes</a:t>
            </a:r>
            <a:endParaRPr lang="en-US" sz="1400" dirty="0"/>
          </a:p>
        </p:txBody>
      </p:sp>
      <p:pic>
        <p:nvPicPr>
          <p:cNvPr id="18" name="Nurse shift screen" descr="/tmp/claude-0/-home-user/de3ee737-ae14-5b09-8745-a5aca720b665/scratchpad/pdf/nurse.png">    </p:cNvPr>
          <p:cNvPicPr>
            <a:picLocks noChangeAspect="1"/>
          </p:cNvPicPr>
          <p:nvPr/>
        </p:nvPicPr>
        <p:blipFill>
          <a:blip r:embed="rId4"/>
          <a:srcRect l="0" r="0" t="0" b="0"/>
          <a:stretch/>
        </p:blipFill>
        <p:spPr>
          <a:xfrm>
            <a:off x="8714232" y="1280160"/>
            <a:ext cx="2258568" cy="484632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Built for everyone</a:t>
            </a:r>
            <a:endParaRPr lang="en-US" sz="3600" dirty="0"/>
          </a:p>
        </p:txBody>
      </p:sp>
      <p:sp>
        <p:nvSpPr>
          <p:cNvPr id="3" name="icon circle"/>
          <p:cNvSpPr/>
          <p:nvPr/>
        </p:nvSpPr>
        <p:spPr>
          <a:xfrm>
            <a:off x="548640" y="1325880"/>
            <a:ext cx="777240" cy="777240"/>
          </a:xfrm>
          <a:prstGeom prst="ellipse">
            <a:avLst/>
          </a:prstGeom>
          <a:solidFill>
            <a:schemeClr val="accent5"/>
          </a:solidFill>
          <a:ln w="12700">
            <a:solidFill>
              <a:schemeClr val="accent5"/>
            </a:solidFill>
            <a:prstDash val="solid"/>
          </a:ln>
        </p:spPr>
      </p:sp>
      <p:pic>
        <p:nvPicPr>
          <p:cNvPr id="4" name="icon" descr="preencoded.png">    </p:cNvPr>
          <p:cNvPicPr>
            <a:picLocks noChangeAspect="1"/>
          </p:cNvPicPr>
          <p:nvPr/>
        </p:nvPicPr>
        <p:blipFill>
          <a:blip r:embed="rId1"/>
          <a:stretch>
            <a:fillRect/>
          </a:stretch>
        </p:blipFill>
        <p:spPr>
          <a:xfrm>
            <a:off x="742950" y="1520190"/>
            <a:ext cx="388620" cy="388620"/>
          </a:xfrm>
          <a:prstGeom prst="rect">
            <a:avLst/>
          </a:prstGeom>
        </p:spPr>
      </p:pic>
      <p:sp>
        <p:nvSpPr>
          <p:cNvPr id="5" name="Text 2"/>
          <p:cNvSpPr txBox="1"/>
          <p:nvPr/>
        </p:nvSpPr>
        <p:spPr>
          <a:xfrm>
            <a:off x="1554480" y="1325880"/>
            <a:ext cx="4754880" cy="457200"/>
          </a:xfrm>
          <a:prstGeom prst="rect">
            <a:avLst/>
          </a:prstGeom>
          <a:noFill/>
          <a:ln/>
        </p:spPr>
        <p:txBody>
          <a:bodyPr wrap="square" lIns="0" tIns="0" rIns="0" bIns="0" rtlCol="0" anchor="ctr"/>
          <a:lstStyle/>
          <a:p>
            <a:pPr indent="0" marL="0">
              <a:buNone/>
            </a:pPr>
            <a:r>
              <a:rPr lang="en-US" sz="2000" b="1" dirty="0">
                <a:solidFill>
                  <a:schemeClr val="tx1"/>
                </a:solidFill>
              </a:rPr>
              <a:t>English and हिन्दी</a:t>
            </a:r>
            <a:endParaRPr lang="en-US" sz="2000" dirty="0"/>
          </a:p>
        </p:txBody>
      </p:sp>
      <p:sp>
        <p:nvSpPr>
          <p:cNvPr id="6" name="Text 3"/>
          <p:cNvSpPr txBox="1"/>
          <p:nvPr/>
        </p:nvSpPr>
        <p:spPr>
          <a:xfrm>
            <a:off x="1554480" y="1783080"/>
            <a:ext cx="4754880" cy="914400"/>
          </a:xfrm>
          <a:prstGeom prst="rect">
            <a:avLst/>
          </a:prstGeom>
          <a:noFill/>
          <a:ln/>
        </p:spPr>
        <p:txBody>
          <a:bodyPr wrap="square" lIns="0" tIns="0" rIns="0" bIns="0" rtlCol="0" anchor="t"/>
          <a:lstStyle/>
          <a:p>
            <a:pPr indent="0" marL="0">
              <a:buNone/>
            </a:pPr>
            <a:r>
              <a:rPr lang="en-US" sz="1500" dirty="0">
                <a:solidFill>
                  <a:schemeClr val="tx2"/>
                </a:solidFill>
              </a:rPr>
              <a:t>Every screen, the alert explanations, the assistant and the demo voice-over.</a:t>
            </a:r>
            <a:endParaRPr lang="en-US" sz="1500" dirty="0"/>
          </a:p>
        </p:txBody>
      </p:sp>
      <p:sp>
        <p:nvSpPr>
          <p:cNvPr id="7" name="icon circle"/>
          <p:cNvSpPr/>
          <p:nvPr/>
        </p:nvSpPr>
        <p:spPr>
          <a:xfrm>
            <a:off x="548640" y="2926080"/>
            <a:ext cx="777240" cy="777240"/>
          </a:xfrm>
          <a:prstGeom prst="ellipse">
            <a:avLst/>
          </a:prstGeom>
          <a:solidFill>
            <a:schemeClr val="accent2"/>
          </a:solidFill>
          <a:ln w="12700">
            <a:solidFill>
              <a:schemeClr val="accent2"/>
            </a:solidFill>
            <a:prstDash val="solid"/>
          </a:ln>
        </p:spPr>
      </p:sp>
      <p:pic>
        <p:nvPicPr>
          <p:cNvPr id="8" name="icon" descr="preencoded.png">    </p:cNvPr>
          <p:cNvPicPr>
            <a:picLocks noChangeAspect="1"/>
          </p:cNvPicPr>
          <p:nvPr/>
        </p:nvPicPr>
        <p:blipFill>
          <a:blip r:embed="rId2"/>
          <a:stretch>
            <a:fillRect/>
          </a:stretch>
        </p:blipFill>
        <p:spPr>
          <a:xfrm>
            <a:off x="742950" y="3120390"/>
            <a:ext cx="388620" cy="388620"/>
          </a:xfrm>
          <a:prstGeom prst="rect">
            <a:avLst/>
          </a:prstGeom>
        </p:spPr>
      </p:pic>
      <p:sp>
        <p:nvSpPr>
          <p:cNvPr id="9" name="Text 5"/>
          <p:cNvSpPr txBox="1"/>
          <p:nvPr/>
        </p:nvSpPr>
        <p:spPr>
          <a:xfrm>
            <a:off x="1554480" y="2926080"/>
            <a:ext cx="4754880" cy="457200"/>
          </a:xfrm>
          <a:prstGeom prst="rect">
            <a:avLst/>
          </a:prstGeom>
          <a:noFill/>
          <a:ln/>
        </p:spPr>
        <p:txBody>
          <a:bodyPr wrap="square" lIns="0" tIns="0" rIns="0" bIns="0" rtlCol="0" anchor="ctr"/>
          <a:lstStyle/>
          <a:p>
            <a:pPr indent="0" marL="0">
              <a:buNone/>
            </a:pPr>
            <a:r>
              <a:rPr lang="en-US" sz="2000" b="1" dirty="0">
                <a:solidFill>
                  <a:schemeClr val="tx1"/>
                </a:solidFill>
              </a:rPr>
              <a:t>Help assistant</a:t>
            </a:r>
            <a:endParaRPr lang="en-US" sz="2000" dirty="0"/>
          </a:p>
        </p:txBody>
      </p:sp>
      <p:sp>
        <p:nvSpPr>
          <p:cNvPr id="10" name="Text 6"/>
          <p:cNvSpPr txBox="1"/>
          <p:nvPr/>
        </p:nvSpPr>
        <p:spPr>
          <a:xfrm>
            <a:off x="1554480" y="3383280"/>
            <a:ext cx="4754880" cy="914400"/>
          </a:xfrm>
          <a:prstGeom prst="rect">
            <a:avLst/>
          </a:prstGeom>
          <a:noFill/>
          <a:ln/>
        </p:spPr>
        <p:txBody>
          <a:bodyPr wrap="square" lIns="0" tIns="0" rIns="0" bIns="0" rtlCol="0" anchor="t"/>
          <a:lstStyle/>
          <a:p>
            <a:pPr indent="0" marL="0">
              <a:buNone/>
            </a:pPr>
            <a:r>
              <a:rPr lang="en-US" sz="1500" dirty="0">
                <a:solidFill>
                  <a:schemeClr val="tx2"/>
                </a:solidFill>
              </a:rPr>
              <a:t>“Report kahan hai?” → steps + a button that goes there. Speak questions; hear answers.</a:t>
            </a:r>
            <a:endParaRPr lang="en-US" sz="1500" dirty="0"/>
          </a:p>
        </p:txBody>
      </p:sp>
      <p:sp>
        <p:nvSpPr>
          <p:cNvPr id="11" name="icon circle"/>
          <p:cNvSpPr/>
          <p:nvPr/>
        </p:nvSpPr>
        <p:spPr>
          <a:xfrm>
            <a:off x="548640" y="4526280"/>
            <a:ext cx="777240" cy="777240"/>
          </a:xfrm>
          <a:prstGeom prst="ellipse">
            <a:avLst/>
          </a:prstGeom>
          <a:solidFill>
            <a:schemeClr val="accent3"/>
          </a:solidFill>
          <a:ln w="12700">
            <a:solidFill>
              <a:schemeClr val="accent3"/>
            </a:solidFill>
            <a:prstDash val="solid"/>
          </a:ln>
        </p:spPr>
      </p:sp>
      <p:pic>
        <p:nvPicPr>
          <p:cNvPr id="12" name="icon" descr="preencoded.png">    </p:cNvPr>
          <p:cNvPicPr>
            <a:picLocks noChangeAspect="1"/>
          </p:cNvPicPr>
          <p:nvPr/>
        </p:nvPicPr>
        <p:blipFill>
          <a:blip r:embed="rId3"/>
          <a:stretch>
            <a:fillRect/>
          </a:stretch>
        </p:blipFill>
        <p:spPr>
          <a:xfrm>
            <a:off x="742950" y="4720590"/>
            <a:ext cx="388620" cy="388620"/>
          </a:xfrm>
          <a:prstGeom prst="rect">
            <a:avLst/>
          </a:prstGeom>
        </p:spPr>
      </p:pic>
      <p:sp>
        <p:nvSpPr>
          <p:cNvPr id="13" name="Text 8"/>
          <p:cNvSpPr txBox="1"/>
          <p:nvPr/>
        </p:nvSpPr>
        <p:spPr>
          <a:xfrm>
            <a:off x="1554480" y="4526280"/>
            <a:ext cx="4754880" cy="457200"/>
          </a:xfrm>
          <a:prstGeom prst="rect">
            <a:avLst/>
          </a:prstGeom>
          <a:noFill/>
          <a:ln/>
        </p:spPr>
        <p:txBody>
          <a:bodyPr wrap="square" lIns="0" tIns="0" rIns="0" bIns="0" rtlCol="0" anchor="ctr"/>
          <a:lstStyle/>
          <a:p>
            <a:pPr indent="0" marL="0">
              <a:buNone/>
            </a:pPr>
            <a:r>
              <a:rPr lang="en-US" sz="2000" b="1" dirty="0">
                <a:solidFill>
                  <a:schemeClr val="tx1"/>
                </a:solidFill>
              </a:rPr>
              <a:t>Accessibility</a:t>
            </a:r>
            <a:endParaRPr lang="en-US" sz="2000" dirty="0"/>
          </a:p>
        </p:txBody>
      </p:sp>
      <p:sp>
        <p:nvSpPr>
          <p:cNvPr id="14" name="Text 9"/>
          <p:cNvSpPr txBox="1"/>
          <p:nvPr/>
        </p:nvSpPr>
        <p:spPr>
          <a:xfrm>
            <a:off x="1554480" y="4983480"/>
            <a:ext cx="4754880" cy="914400"/>
          </a:xfrm>
          <a:prstGeom prst="rect">
            <a:avLst/>
          </a:prstGeom>
          <a:noFill/>
          <a:ln/>
        </p:spPr>
        <p:txBody>
          <a:bodyPr wrap="square" lIns="0" tIns="0" rIns="0" bIns="0" rtlCol="0" anchor="t"/>
          <a:lstStyle/>
          <a:p>
            <a:pPr indent="0" marL="0">
              <a:buNone/>
            </a:pPr>
            <a:r>
              <a:rPr lang="en-US" sz="1500" dirty="0">
                <a:solidFill>
                  <a:schemeClr val="tx2"/>
                </a:solidFill>
              </a:rPr>
              <a:t>Large text, easy home for older users, flash alerts for hearing loss, spoken alerts for low vision.</a:t>
            </a:r>
            <a:endParaRPr lang="en-US" sz="1500" dirty="0"/>
          </a:p>
        </p:txBody>
      </p:sp>
      <p:pic>
        <p:nvPicPr>
          <p:cNvPr id="15" name="Hindi patient screen" descr="/tmp/claude-0/-home-user/de3ee737-ae14-5b09-8745-a5aca720b665/scratchpad/pdf/patient-hi.png">    </p:cNvPr>
          <p:cNvPicPr>
            <a:picLocks noChangeAspect="1"/>
          </p:cNvPicPr>
          <p:nvPr/>
        </p:nvPicPr>
        <p:blipFill>
          <a:blip r:embed="rId4"/>
          <a:srcRect l="0" r="0" t="0" b="0"/>
          <a:stretch/>
        </p:blipFill>
        <p:spPr>
          <a:xfrm>
            <a:off x="6675120" y="1188720"/>
            <a:ext cx="2377440" cy="5074920"/>
          </a:xfrm>
          <a:prstGeom prst="rect">
            <a:avLst/>
          </a:prstGeom>
        </p:spPr>
      </p:pic>
      <p:pic>
        <p:nvPicPr>
          <p:cNvPr id="16" name="Help assistant screen" descr="/tmp/claude-0/-home-user/de3ee737-ae14-5b09-8745-a5aca720b665/scratchpad/pdf/help.png">    </p:cNvPr>
          <p:cNvPicPr>
            <a:picLocks noChangeAspect="1"/>
          </p:cNvPicPr>
          <p:nvPr/>
        </p:nvPicPr>
        <p:blipFill>
          <a:blip r:embed="rId5"/>
          <a:srcRect l="0" r="0" t="0" b="0"/>
          <a:stretch/>
        </p:blipFill>
        <p:spPr>
          <a:xfrm>
            <a:off x="9281160" y="1188720"/>
            <a:ext cx="2377440" cy="507492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How it is built</a:t>
            </a:r>
            <a:endParaRPr lang="en-US" sz="3600" dirty="0"/>
          </a:p>
        </p:txBody>
      </p:sp>
      <p:sp>
        <p:nvSpPr>
          <p:cNvPr id="3" name="card"/>
          <p:cNvSpPr/>
          <p:nvPr/>
        </p:nvSpPr>
        <p:spPr>
          <a:xfrm>
            <a:off x="548640" y="1371600"/>
            <a:ext cx="3474720" cy="219456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 circle"/>
          <p:cNvSpPr/>
          <p:nvPr/>
        </p:nvSpPr>
        <p:spPr>
          <a:xfrm>
            <a:off x="822960" y="1600200"/>
            <a:ext cx="685800" cy="685800"/>
          </a:xfrm>
          <a:prstGeom prst="ellipse">
            <a:avLst/>
          </a:prstGeom>
          <a:solidFill>
            <a:schemeClr val="accent6"/>
          </a:solidFill>
          <a:ln w="12700">
            <a:solidFill>
              <a:schemeClr val="accent6"/>
            </a:solidFill>
            <a:prstDash val="solid"/>
          </a:ln>
        </p:spPr>
      </p:sp>
      <p:pic>
        <p:nvPicPr>
          <p:cNvPr id="5" name="icon" descr="preencoded.png">    </p:cNvPr>
          <p:cNvPicPr>
            <a:picLocks noChangeAspect="1"/>
          </p:cNvPicPr>
          <p:nvPr/>
        </p:nvPicPr>
        <p:blipFill>
          <a:blip r:embed="rId1"/>
          <a:stretch>
            <a:fillRect/>
          </a:stretch>
        </p:blipFill>
        <p:spPr>
          <a:xfrm>
            <a:off x="994410" y="1771650"/>
            <a:ext cx="342900" cy="342900"/>
          </a:xfrm>
          <a:prstGeom prst="rect">
            <a:avLst/>
          </a:prstGeom>
        </p:spPr>
      </p:pic>
      <p:sp>
        <p:nvSpPr>
          <p:cNvPr id="6" name="Text 3"/>
          <p:cNvSpPr txBox="1"/>
          <p:nvPr/>
        </p:nvSpPr>
        <p:spPr>
          <a:xfrm>
            <a:off x="1645920" y="16916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Wrist band</a:t>
            </a:r>
            <a:endParaRPr lang="en-US" sz="1800" dirty="0"/>
          </a:p>
        </p:txBody>
      </p:sp>
      <p:sp>
        <p:nvSpPr>
          <p:cNvPr id="7" name="Text 4"/>
          <p:cNvSpPr txBox="1"/>
          <p:nvPr/>
        </p:nvSpPr>
        <p:spPr>
          <a:xfrm>
            <a:off x="822960" y="2423160"/>
            <a:ext cx="2926080" cy="1005840"/>
          </a:xfrm>
          <a:prstGeom prst="rect">
            <a:avLst/>
          </a:prstGeom>
          <a:noFill/>
          <a:ln/>
        </p:spPr>
        <p:txBody>
          <a:bodyPr wrap="square" lIns="0" tIns="0" rIns="0" bIns="0" rtlCol="0" anchor="t"/>
          <a:lstStyle/>
          <a:p>
            <a:pPr indent="0" marL="0">
              <a:buNone/>
            </a:pPr>
            <a:r>
              <a:rPr lang="en-US" sz="1400" dirty="0">
                <a:solidFill>
                  <a:schemeClr val="tx2"/>
                </a:solidFill>
              </a:rPr>
              <a:t>Simulated now; ESP32 (MAX30102, MLX90614, MPU6050) or Apple Watch next</a:t>
            </a:r>
            <a:endParaRPr lang="en-US" sz="1400" dirty="0"/>
          </a:p>
        </p:txBody>
      </p:sp>
      <p:sp>
        <p:nvSpPr>
          <p:cNvPr id="8" name="card"/>
          <p:cNvSpPr/>
          <p:nvPr/>
        </p:nvSpPr>
        <p:spPr>
          <a:xfrm>
            <a:off x="4343400" y="1371600"/>
            <a:ext cx="3474720" cy="219456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 circle"/>
          <p:cNvSpPr/>
          <p:nvPr/>
        </p:nvSpPr>
        <p:spPr>
          <a:xfrm>
            <a:off x="4617720" y="1600200"/>
            <a:ext cx="685800" cy="68580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4789170" y="1771650"/>
            <a:ext cx="342900" cy="342900"/>
          </a:xfrm>
          <a:prstGeom prst="rect">
            <a:avLst/>
          </a:prstGeom>
        </p:spPr>
      </p:pic>
      <p:sp>
        <p:nvSpPr>
          <p:cNvPr id="11" name="Text 7"/>
          <p:cNvSpPr txBox="1"/>
          <p:nvPr/>
        </p:nvSpPr>
        <p:spPr>
          <a:xfrm>
            <a:off x="5440680" y="16916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AdaptAlert engine</a:t>
            </a:r>
            <a:endParaRPr lang="en-US" sz="1800" dirty="0"/>
          </a:p>
        </p:txBody>
      </p:sp>
      <p:sp>
        <p:nvSpPr>
          <p:cNvPr id="12" name="Text 8"/>
          <p:cNvSpPr txBox="1"/>
          <p:nvPr/>
        </p:nvSpPr>
        <p:spPr>
          <a:xfrm>
            <a:off x="4617720" y="2423160"/>
            <a:ext cx="2926080" cy="1005840"/>
          </a:xfrm>
          <a:prstGeom prst="rect">
            <a:avLst/>
          </a:prstGeom>
          <a:noFill/>
          <a:ln/>
        </p:spPr>
        <p:txBody>
          <a:bodyPr wrap="square" lIns="0" tIns="0" rIns="0" bIns="0" rtlCol="0" anchor="t"/>
          <a:lstStyle/>
          <a:p>
            <a:pPr indent="0" marL="0">
              <a:buNone/>
            </a:pPr>
            <a:r>
              <a:rPr lang="en-US" sz="1400" dirty="0">
                <a:solidFill>
                  <a:schemeClr val="tx2"/>
                </a:solidFill>
              </a:rPr>
              <a:t>Pure Dart, runs on the device: 7 stages, learning, explanations</a:t>
            </a:r>
            <a:endParaRPr lang="en-US" sz="1400" dirty="0"/>
          </a:p>
        </p:txBody>
      </p:sp>
      <p:sp>
        <p:nvSpPr>
          <p:cNvPr id="13" name="card"/>
          <p:cNvSpPr/>
          <p:nvPr/>
        </p:nvSpPr>
        <p:spPr>
          <a:xfrm>
            <a:off x="8138160" y="1371600"/>
            <a:ext cx="3474720" cy="219456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 circle"/>
          <p:cNvSpPr/>
          <p:nvPr/>
        </p:nvSpPr>
        <p:spPr>
          <a:xfrm>
            <a:off x="8412480" y="1600200"/>
            <a:ext cx="685800" cy="685800"/>
          </a:xfrm>
          <a:prstGeom prst="ellipse">
            <a:avLst/>
          </a:prstGeom>
          <a:solidFill>
            <a:schemeClr val="accent5"/>
          </a:solidFill>
          <a:ln w="12700">
            <a:solidFill>
              <a:schemeClr val="accent5"/>
            </a:solidFill>
            <a:prstDash val="solid"/>
          </a:ln>
        </p:spPr>
      </p:sp>
      <p:pic>
        <p:nvPicPr>
          <p:cNvPr id="15" name="icon" descr="preencoded.png">    </p:cNvPr>
          <p:cNvPicPr>
            <a:picLocks noChangeAspect="1"/>
          </p:cNvPicPr>
          <p:nvPr/>
        </p:nvPicPr>
        <p:blipFill>
          <a:blip r:embed="rId3"/>
          <a:stretch>
            <a:fillRect/>
          </a:stretch>
        </p:blipFill>
        <p:spPr>
          <a:xfrm>
            <a:off x="8583930" y="1771650"/>
            <a:ext cx="342900" cy="342900"/>
          </a:xfrm>
          <a:prstGeom prst="rect">
            <a:avLst/>
          </a:prstGeom>
        </p:spPr>
      </p:pic>
      <p:sp>
        <p:nvSpPr>
          <p:cNvPr id="16" name="Text 11"/>
          <p:cNvSpPr txBox="1"/>
          <p:nvPr/>
        </p:nvSpPr>
        <p:spPr>
          <a:xfrm>
            <a:off x="9235440" y="16916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PulseOS apps</a:t>
            </a:r>
            <a:endParaRPr lang="en-US" sz="1800" dirty="0"/>
          </a:p>
        </p:txBody>
      </p:sp>
      <p:sp>
        <p:nvSpPr>
          <p:cNvPr id="17" name="Text 12"/>
          <p:cNvSpPr txBox="1"/>
          <p:nvPr/>
        </p:nvSpPr>
        <p:spPr>
          <a:xfrm>
            <a:off x="8412480" y="2423160"/>
            <a:ext cx="2926080" cy="1005840"/>
          </a:xfrm>
          <a:prstGeom prst="rect">
            <a:avLst/>
          </a:prstGeom>
          <a:noFill/>
          <a:ln/>
        </p:spPr>
        <p:txBody>
          <a:bodyPr wrap="square" lIns="0" tIns="0" rIns="0" bIns="0" rtlCol="0" anchor="t"/>
          <a:lstStyle/>
          <a:p>
            <a:pPr indent="0" marL="0">
              <a:buNone/>
            </a:pPr>
            <a:r>
              <a:rPr lang="en-US" sz="1400" dirty="0">
                <a:solidFill>
                  <a:schemeClr val="tx2"/>
                </a:solidFill>
              </a:rPr>
              <a:t>Flutter web, Android, iOS: patient, doctor, nurse</a:t>
            </a:r>
            <a:endParaRPr lang="en-US" sz="1400" dirty="0"/>
          </a:p>
        </p:txBody>
      </p:sp>
      <p:sp>
        <p:nvSpPr>
          <p:cNvPr id="18" name="arrow"/>
          <p:cNvSpPr/>
          <p:nvPr/>
        </p:nvSpPr>
        <p:spPr>
          <a:xfrm>
            <a:off x="4041648" y="2286000"/>
            <a:ext cx="274320" cy="365760"/>
          </a:xfrm>
          <a:prstGeom prst="rightArrow">
            <a:avLst/>
          </a:prstGeom>
          <a:solidFill>
            <a:schemeClr val="tx2"/>
          </a:solidFill>
          <a:ln w="12700">
            <a:solidFill>
              <a:schemeClr val="tx2"/>
            </a:solidFill>
            <a:prstDash val="solid"/>
          </a:ln>
        </p:spPr>
      </p:sp>
      <p:sp>
        <p:nvSpPr>
          <p:cNvPr id="19" name="arrow"/>
          <p:cNvSpPr/>
          <p:nvPr/>
        </p:nvSpPr>
        <p:spPr>
          <a:xfrm>
            <a:off x="7836408" y="2286000"/>
            <a:ext cx="274320" cy="365760"/>
          </a:xfrm>
          <a:prstGeom prst="rightArrow">
            <a:avLst/>
          </a:prstGeom>
          <a:solidFill>
            <a:schemeClr val="tx2"/>
          </a:solidFill>
          <a:ln w="12700">
            <a:solidFill>
              <a:schemeClr val="tx2"/>
            </a:solidFill>
            <a:prstDash val="solid"/>
          </a:ln>
        </p:spPr>
      </p:sp>
      <p:sp>
        <p:nvSpPr>
          <p:cNvPr id="20" name="icon circle"/>
          <p:cNvSpPr/>
          <p:nvPr/>
        </p:nvSpPr>
        <p:spPr>
          <a:xfrm>
            <a:off x="548640" y="3977640"/>
            <a:ext cx="548640" cy="548640"/>
          </a:xfrm>
          <a:prstGeom prst="ellipse">
            <a:avLst/>
          </a:prstGeom>
          <a:solidFill>
            <a:schemeClr val="tx1"/>
          </a:solidFill>
          <a:ln w="12700">
            <a:solidFill>
              <a:schemeClr val="tx1"/>
            </a:solidFill>
            <a:prstDash val="solid"/>
          </a:ln>
        </p:spPr>
      </p:sp>
      <p:pic>
        <p:nvPicPr>
          <p:cNvPr id="21" name="icon" descr="preencoded.png">    </p:cNvPr>
          <p:cNvPicPr>
            <a:picLocks noChangeAspect="1"/>
          </p:cNvPicPr>
          <p:nvPr/>
        </p:nvPicPr>
        <p:blipFill>
          <a:blip r:embed="rId4"/>
          <a:stretch>
            <a:fillRect/>
          </a:stretch>
        </p:blipFill>
        <p:spPr>
          <a:xfrm>
            <a:off x="685800" y="4114800"/>
            <a:ext cx="274320" cy="274320"/>
          </a:xfrm>
          <a:prstGeom prst="rect">
            <a:avLst/>
          </a:prstGeom>
        </p:spPr>
      </p:pic>
      <p:sp>
        <p:nvSpPr>
          <p:cNvPr id="22" name="Text 16"/>
          <p:cNvSpPr txBox="1"/>
          <p:nvPr/>
        </p:nvSpPr>
        <p:spPr>
          <a:xfrm>
            <a:off x="1280160" y="3959352"/>
            <a:ext cx="4663440" cy="365760"/>
          </a:xfrm>
          <a:prstGeom prst="rect">
            <a:avLst/>
          </a:prstGeom>
          <a:noFill/>
          <a:ln/>
        </p:spPr>
        <p:txBody>
          <a:bodyPr wrap="square" lIns="0" tIns="0" rIns="0" bIns="0" rtlCol="0" anchor="ctr"/>
          <a:lstStyle/>
          <a:p>
            <a:pPr indent="0" marL="0">
              <a:buNone/>
            </a:pPr>
            <a:r>
              <a:rPr lang="en-US" sz="1600" b="1" dirty="0">
                <a:solidFill>
                  <a:schemeClr val="tx1"/>
                </a:solidFill>
              </a:rPr>
              <a:t>Research Lab</a:t>
            </a:r>
            <a:endParaRPr lang="en-US" sz="1600" dirty="0"/>
          </a:p>
        </p:txBody>
      </p:sp>
      <p:sp>
        <p:nvSpPr>
          <p:cNvPr id="23" name="Text 17"/>
          <p:cNvSpPr txBox="1"/>
          <p:nvPr/>
        </p:nvSpPr>
        <p:spPr>
          <a:xfrm>
            <a:off x="1280160" y="4325112"/>
            <a:ext cx="4663440" cy="548640"/>
          </a:xfrm>
          <a:prstGeom prst="rect">
            <a:avLst/>
          </a:prstGeom>
          <a:noFill/>
          <a:ln/>
        </p:spPr>
        <p:txBody>
          <a:bodyPr wrap="square" lIns="0" tIns="0" rIns="0" bIns="0" rtlCol="0" anchor="t"/>
          <a:lstStyle/>
          <a:p>
            <a:pPr indent="0" marL="0">
              <a:buNone/>
            </a:pPr>
            <a:r>
              <a:rPr lang="en-US" sz="1400" dirty="0">
                <a:solidFill>
                  <a:schemeClr val="tx2"/>
                </a:solidFill>
              </a:rPr>
              <a:t>Runs the 5-system experiment in the app; copy results for the paper</a:t>
            </a:r>
            <a:endParaRPr lang="en-US" sz="1400" dirty="0"/>
          </a:p>
        </p:txBody>
      </p:sp>
      <p:sp>
        <p:nvSpPr>
          <p:cNvPr id="24" name="icon circle"/>
          <p:cNvSpPr/>
          <p:nvPr/>
        </p:nvSpPr>
        <p:spPr>
          <a:xfrm>
            <a:off x="6172200" y="3977640"/>
            <a:ext cx="548640" cy="548640"/>
          </a:xfrm>
          <a:prstGeom prst="ellipse">
            <a:avLst/>
          </a:prstGeom>
          <a:solidFill>
            <a:schemeClr val="tx1"/>
          </a:solidFill>
          <a:ln w="12700">
            <a:solidFill>
              <a:schemeClr val="tx1"/>
            </a:solidFill>
            <a:prstDash val="solid"/>
          </a:ln>
        </p:spPr>
      </p:sp>
      <p:pic>
        <p:nvPicPr>
          <p:cNvPr id="25" name="icon" descr="preencoded.png">    </p:cNvPr>
          <p:cNvPicPr>
            <a:picLocks noChangeAspect="1"/>
          </p:cNvPicPr>
          <p:nvPr/>
        </p:nvPicPr>
        <p:blipFill>
          <a:blip r:embed="rId5"/>
          <a:stretch>
            <a:fillRect/>
          </a:stretch>
        </p:blipFill>
        <p:spPr>
          <a:xfrm>
            <a:off x="6309360" y="4114800"/>
            <a:ext cx="274320" cy="274320"/>
          </a:xfrm>
          <a:prstGeom prst="rect">
            <a:avLst/>
          </a:prstGeom>
        </p:spPr>
      </p:pic>
      <p:sp>
        <p:nvSpPr>
          <p:cNvPr id="26" name="Text 19"/>
          <p:cNvSpPr txBox="1"/>
          <p:nvPr/>
        </p:nvSpPr>
        <p:spPr>
          <a:xfrm>
            <a:off x="6903720" y="3959352"/>
            <a:ext cx="4663440" cy="365760"/>
          </a:xfrm>
          <a:prstGeom prst="rect">
            <a:avLst/>
          </a:prstGeom>
          <a:noFill/>
          <a:ln/>
        </p:spPr>
        <p:txBody>
          <a:bodyPr wrap="square" lIns="0" tIns="0" rIns="0" bIns="0" rtlCol="0" anchor="ctr"/>
          <a:lstStyle/>
          <a:p>
            <a:pPr indent="0" marL="0">
              <a:buNone/>
            </a:pPr>
            <a:r>
              <a:rPr lang="en-US" sz="1600" b="1" dirty="0">
                <a:solidFill>
                  <a:schemeClr val="tx1"/>
                </a:solidFill>
              </a:rPr>
              <a:t>Data</a:t>
            </a:r>
            <a:endParaRPr lang="en-US" sz="1600" dirty="0"/>
          </a:p>
        </p:txBody>
      </p:sp>
      <p:sp>
        <p:nvSpPr>
          <p:cNvPr id="27" name="Text 20"/>
          <p:cNvSpPr txBox="1"/>
          <p:nvPr/>
        </p:nvSpPr>
        <p:spPr>
          <a:xfrm>
            <a:off x="6903720" y="4325112"/>
            <a:ext cx="4663440" cy="548640"/>
          </a:xfrm>
          <a:prstGeom prst="rect">
            <a:avLst/>
          </a:prstGeom>
          <a:noFill/>
          <a:ln/>
        </p:spPr>
        <p:txBody>
          <a:bodyPr wrap="square" lIns="0" tIns="0" rIns="0" bIns="0" rtlCol="0" anchor="t"/>
          <a:lstStyle/>
          <a:p>
            <a:pPr indent="0" marL="0">
              <a:buNone/>
            </a:pPr>
            <a:r>
              <a:rPr lang="en-US" sz="1400" dirty="0">
                <a:solidFill>
                  <a:schemeClr val="tx2"/>
                </a:solidFill>
              </a:rPr>
              <a:t>On-device accounts (salted SHA-256), optional Supabase for real multi-device use</a:t>
            </a:r>
            <a:endParaRPr lang="en-US" sz="1400" dirty="0"/>
          </a:p>
        </p:txBody>
      </p:sp>
      <p:sp>
        <p:nvSpPr>
          <p:cNvPr id="28" name="icon circle"/>
          <p:cNvSpPr/>
          <p:nvPr/>
        </p:nvSpPr>
        <p:spPr>
          <a:xfrm>
            <a:off x="548640" y="5074920"/>
            <a:ext cx="548640" cy="548640"/>
          </a:xfrm>
          <a:prstGeom prst="ellipse">
            <a:avLst/>
          </a:prstGeom>
          <a:solidFill>
            <a:schemeClr val="tx1"/>
          </a:solidFill>
          <a:ln w="12700">
            <a:solidFill>
              <a:schemeClr val="tx1"/>
            </a:solidFill>
            <a:prstDash val="solid"/>
          </a:ln>
        </p:spPr>
      </p:sp>
      <p:pic>
        <p:nvPicPr>
          <p:cNvPr id="29" name="icon" descr="preencoded.png">    </p:cNvPr>
          <p:cNvPicPr>
            <a:picLocks noChangeAspect="1"/>
          </p:cNvPicPr>
          <p:nvPr/>
        </p:nvPicPr>
        <p:blipFill>
          <a:blip r:embed="rId6"/>
          <a:stretch>
            <a:fillRect/>
          </a:stretch>
        </p:blipFill>
        <p:spPr>
          <a:xfrm>
            <a:off x="685800" y="5212080"/>
            <a:ext cx="274320" cy="274320"/>
          </a:xfrm>
          <a:prstGeom prst="rect">
            <a:avLst/>
          </a:prstGeom>
        </p:spPr>
      </p:pic>
      <p:sp>
        <p:nvSpPr>
          <p:cNvPr id="30" name="Text 22"/>
          <p:cNvSpPr txBox="1"/>
          <p:nvPr/>
        </p:nvSpPr>
        <p:spPr>
          <a:xfrm>
            <a:off x="1280160" y="5056632"/>
            <a:ext cx="4663440" cy="365760"/>
          </a:xfrm>
          <a:prstGeom prst="rect">
            <a:avLst/>
          </a:prstGeom>
          <a:noFill/>
          <a:ln/>
        </p:spPr>
        <p:txBody>
          <a:bodyPr wrap="square" lIns="0" tIns="0" rIns="0" bIns="0" rtlCol="0" anchor="ctr"/>
          <a:lstStyle/>
          <a:p>
            <a:pPr indent="0" marL="0">
              <a:buNone/>
            </a:pPr>
            <a:r>
              <a:rPr lang="en-US" sz="1600" b="1" dirty="0">
                <a:solidFill>
                  <a:schemeClr val="tx1"/>
                </a:solidFill>
              </a:rPr>
              <a:t>Hosting</a:t>
            </a:r>
            <a:endParaRPr lang="en-US" sz="1600" dirty="0"/>
          </a:p>
        </p:txBody>
      </p:sp>
      <p:sp>
        <p:nvSpPr>
          <p:cNvPr id="31" name="Text 23"/>
          <p:cNvSpPr txBox="1"/>
          <p:nvPr/>
        </p:nvSpPr>
        <p:spPr>
          <a:xfrm>
            <a:off x="1280160" y="5422392"/>
            <a:ext cx="4663440" cy="548640"/>
          </a:xfrm>
          <a:prstGeom prst="rect">
            <a:avLst/>
          </a:prstGeom>
          <a:noFill/>
          <a:ln/>
        </p:spPr>
        <p:txBody>
          <a:bodyPr wrap="square" lIns="0" tIns="0" rIns="0" bIns="0" rtlCol="0" anchor="t"/>
          <a:lstStyle/>
          <a:p>
            <a:pPr indent="0" marL="0">
              <a:buNone/>
            </a:pPr>
            <a:r>
              <a:rPr lang="en-US" sz="1400" dirty="0">
                <a:solidFill>
                  <a:schemeClr val="tx2"/>
                </a:solidFill>
              </a:rPr>
              <a:t>Vercel serves the built website; every push to GitHub redeploys</a:t>
            </a:r>
            <a:endParaRPr lang="en-US" sz="1400" dirty="0"/>
          </a:p>
        </p:txBody>
      </p:sp>
      <p:sp>
        <p:nvSpPr>
          <p:cNvPr id="32" name="icon circle"/>
          <p:cNvSpPr/>
          <p:nvPr/>
        </p:nvSpPr>
        <p:spPr>
          <a:xfrm>
            <a:off x="6172200" y="5074920"/>
            <a:ext cx="548640" cy="548640"/>
          </a:xfrm>
          <a:prstGeom prst="ellipse">
            <a:avLst/>
          </a:prstGeom>
          <a:solidFill>
            <a:schemeClr val="tx1"/>
          </a:solidFill>
          <a:ln w="12700">
            <a:solidFill>
              <a:schemeClr val="tx1"/>
            </a:solidFill>
            <a:prstDash val="solid"/>
          </a:ln>
        </p:spPr>
      </p:sp>
      <p:pic>
        <p:nvPicPr>
          <p:cNvPr id="33" name="icon" descr="preencoded.png">    </p:cNvPr>
          <p:cNvPicPr>
            <a:picLocks noChangeAspect="1"/>
          </p:cNvPicPr>
          <p:nvPr/>
        </p:nvPicPr>
        <p:blipFill>
          <a:blip r:embed="rId7"/>
          <a:stretch>
            <a:fillRect/>
          </a:stretch>
        </p:blipFill>
        <p:spPr>
          <a:xfrm>
            <a:off x="6309360" y="5212080"/>
            <a:ext cx="274320" cy="274320"/>
          </a:xfrm>
          <a:prstGeom prst="rect">
            <a:avLst/>
          </a:prstGeom>
        </p:spPr>
      </p:pic>
      <p:sp>
        <p:nvSpPr>
          <p:cNvPr id="34" name="Text 25"/>
          <p:cNvSpPr txBox="1"/>
          <p:nvPr/>
        </p:nvSpPr>
        <p:spPr>
          <a:xfrm>
            <a:off x="6903720" y="5056632"/>
            <a:ext cx="4663440" cy="365760"/>
          </a:xfrm>
          <a:prstGeom prst="rect">
            <a:avLst/>
          </a:prstGeom>
          <a:noFill/>
          <a:ln/>
        </p:spPr>
        <p:txBody>
          <a:bodyPr wrap="square" lIns="0" tIns="0" rIns="0" bIns="0" rtlCol="0" anchor="ctr"/>
          <a:lstStyle/>
          <a:p>
            <a:pPr indent="0" marL="0">
              <a:buNone/>
            </a:pPr>
            <a:r>
              <a:rPr lang="en-US" sz="1600" b="1" dirty="0">
                <a:solidFill>
                  <a:schemeClr val="tx1"/>
                </a:solidFill>
              </a:rPr>
              <a:t>Quality</a:t>
            </a:r>
            <a:endParaRPr lang="en-US" sz="1600" dirty="0"/>
          </a:p>
        </p:txBody>
      </p:sp>
      <p:sp>
        <p:nvSpPr>
          <p:cNvPr id="35" name="Text 26"/>
          <p:cNvSpPr txBox="1"/>
          <p:nvPr/>
        </p:nvSpPr>
        <p:spPr>
          <a:xfrm>
            <a:off x="6903720" y="5422392"/>
            <a:ext cx="4663440" cy="548640"/>
          </a:xfrm>
          <a:prstGeom prst="rect">
            <a:avLst/>
          </a:prstGeom>
          <a:noFill/>
          <a:ln/>
        </p:spPr>
        <p:txBody>
          <a:bodyPr wrap="square" lIns="0" tIns="0" rIns="0" bIns="0" rtlCol="0" anchor="t"/>
          <a:lstStyle/>
          <a:p>
            <a:pPr indent="0" marL="0">
              <a:buNone/>
            </a:pPr>
            <a:r>
              <a:rPr lang="en-US" sz="1400" dirty="0">
                <a:solidFill>
                  <a:schemeClr val="tx2"/>
                </a:solidFill>
              </a:rPr>
              <a:t>100 automated tests, incl. every screen in Hindi and at large text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Live demo: 5 minutes</a:t>
            </a:r>
            <a:endParaRPr lang="en-US" sz="3600" dirty="0"/>
          </a:p>
        </p:txBody>
      </p:sp>
      <p:sp>
        <p:nvSpPr>
          <p:cNvPr id="3" name="step 1"/>
          <p:cNvSpPr/>
          <p:nvPr/>
        </p:nvSpPr>
        <p:spPr>
          <a:xfrm>
            <a:off x="548640" y="1280160"/>
            <a:ext cx="640080" cy="640080"/>
          </a:xfrm>
          <a:prstGeom prst="ellipse">
            <a:avLst/>
          </a:prstGeom>
          <a:solidFill>
            <a:schemeClr val="accent1"/>
          </a:solidFill>
          <a:ln w="12700">
            <a:solidFill>
              <a:schemeClr val="accent1"/>
            </a:solidFill>
            <a:prstDash val="solid"/>
          </a:ln>
        </p:spPr>
      </p:sp>
      <p:sp>
        <p:nvSpPr>
          <p:cNvPr id="4" name="Text 2"/>
          <p:cNvSpPr txBox="1"/>
          <p:nvPr/>
        </p:nvSpPr>
        <p:spPr>
          <a:xfrm>
            <a:off x="548640" y="12801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417320" y="1261872"/>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Guided demo with voice</a:t>
            </a:r>
            <a:endParaRPr lang="en-US" sz="1800" dirty="0"/>
          </a:p>
        </p:txBody>
      </p:sp>
      <p:sp>
        <p:nvSpPr>
          <p:cNvPr id="6" name="Text 4"/>
          <p:cNvSpPr txBox="1"/>
          <p:nvPr/>
        </p:nvSpPr>
        <p:spPr>
          <a:xfrm>
            <a:off x="1417320" y="1627632"/>
            <a:ext cx="5486400" cy="594360"/>
          </a:xfrm>
          <a:prstGeom prst="rect">
            <a:avLst/>
          </a:prstGeom>
          <a:noFill/>
          <a:ln/>
        </p:spPr>
        <p:txBody>
          <a:bodyPr wrap="square" lIns="0" tIns="0" rIns="0" bIns="0" rtlCol="0" anchor="t"/>
          <a:lstStyle/>
          <a:p>
            <a:pPr indent="0" marL="0">
              <a:buNone/>
            </a:pPr>
            <a:r>
              <a:rPr lang="en-US" sz="1400" dirty="0">
                <a:solidFill>
                  <a:schemeClr val="tx2"/>
                </a:solidFill>
              </a:rPr>
              <a:t>Walk → no alert. Loose band → ignored. Coffee → explained alert. Doctor says false → held back next day. Real problem → urgent alert. Oxygen 89% → safety floor.</a:t>
            </a:r>
            <a:endParaRPr lang="en-US" sz="1400" dirty="0"/>
          </a:p>
        </p:txBody>
      </p:sp>
      <p:sp>
        <p:nvSpPr>
          <p:cNvPr id="7" name="step 2"/>
          <p:cNvSpPr/>
          <p:nvPr/>
        </p:nvSpPr>
        <p:spPr>
          <a:xfrm>
            <a:off x="548640" y="2267712"/>
            <a:ext cx="640080" cy="640080"/>
          </a:xfrm>
          <a:prstGeom prst="ellipse">
            <a:avLst/>
          </a:prstGeom>
          <a:solidFill>
            <a:schemeClr val="accent1"/>
          </a:solidFill>
          <a:ln w="12700">
            <a:solidFill>
              <a:schemeClr val="accent1"/>
            </a:solidFill>
            <a:prstDash val="solid"/>
          </a:ln>
        </p:spPr>
      </p:sp>
      <p:sp>
        <p:nvSpPr>
          <p:cNvPr id="8" name="Text 6"/>
          <p:cNvSpPr txBox="1"/>
          <p:nvPr/>
        </p:nvSpPr>
        <p:spPr>
          <a:xfrm>
            <a:off x="548640" y="2267712"/>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417320" y="2249424"/>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Doctor</a:t>
            </a:r>
            <a:endParaRPr lang="en-US" sz="1800" dirty="0"/>
          </a:p>
        </p:txBody>
      </p:sp>
      <p:sp>
        <p:nvSpPr>
          <p:cNvPr id="10" name="Text 8"/>
          <p:cNvSpPr txBox="1"/>
          <p:nvPr/>
        </p:nvSpPr>
        <p:spPr>
          <a:xfrm>
            <a:off x="1417320" y="2615184"/>
            <a:ext cx="5486400" cy="594360"/>
          </a:xfrm>
          <a:prstGeom prst="rect">
            <a:avLst/>
          </a:prstGeom>
          <a:noFill/>
          <a:ln/>
        </p:spPr>
        <p:txBody>
          <a:bodyPr wrap="square" lIns="0" tIns="0" rIns="0" bIns="0" rtlCol="0" anchor="t"/>
          <a:lstStyle/>
          <a:p>
            <a:pPr indent="0" marL="0">
              <a:buNone/>
            </a:pPr>
            <a:r>
              <a:rPr lang="en-US" sz="1400" dirty="0">
                <a:solidFill>
                  <a:schemeClr val="tx2"/>
                </a:solidFill>
              </a:rPr>
              <a:t>Dashboard → Patients → Jai → note and prescription → Schedule</a:t>
            </a:r>
            <a:endParaRPr lang="en-US" sz="1400" dirty="0"/>
          </a:p>
        </p:txBody>
      </p:sp>
      <p:sp>
        <p:nvSpPr>
          <p:cNvPr id="11" name="step 3"/>
          <p:cNvSpPr/>
          <p:nvPr/>
        </p:nvSpPr>
        <p:spPr>
          <a:xfrm>
            <a:off x="548640" y="3255264"/>
            <a:ext cx="640080" cy="640080"/>
          </a:xfrm>
          <a:prstGeom prst="ellipse">
            <a:avLst/>
          </a:prstGeom>
          <a:solidFill>
            <a:schemeClr val="accent1"/>
          </a:solidFill>
          <a:ln w="12700">
            <a:solidFill>
              <a:schemeClr val="accent1"/>
            </a:solidFill>
            <a:prstDash val="solid"/>
          </a:ln>
        </p:spPr>
      </p:sp>
      <p:sp>
        <p:nvSpPr>
          <p:cNvPr id="12" name="Text 10"/>
          <p:cNvSpPr txBox="1"/>
          <p:nvPr/>
        </p:nvSpPr>
        <p:spPr>
          <a:xfrm>
            <a:off x="548640" y="3255264"/>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417320" y="3236976"/>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Nurse</a:t>
            </a:r>
            <a:endParaRPr lang="en-US" sz="1800" dirty="0"/>
          </a:p>
        </p:txBody>
      </p:sp>
      <p:sp>
        <p:nvSpPr>
          <p:cNvPr id="14" name="Text 12"/>
          <p:cNvSpPr txBox="1"/>
          <p:nvPr/>
        </p:nvSpPr>
        <p:spPr>
          <a:xfrm>
            <a:off x="1417320" y="3602736"/>
            <a:ext cx="5486400" cy="594360"/>
          </a:xfrm>
          <a:prstGeom prst="rect">
            <a:avLst/>
          </a:prstGeom>
          <a:noFill/>
          <a:ln/>
        </p:spPr>
        <p:txBody>
          <a:bodyPr wrap="square" lIns="0" tIns="0" rIns="0" bIns="0" rtlCol="0" anchor="t"/>
          <a:lstStyle/>
          <a:p>
            <a:pPr indent="0" marL="0">
              <a:buNone/>
            </a:pPr>
            <a:r>
              <a:rPr lang="en-US" sz="1400" dirty="0">
                <a:solidFill>
                  <a:schemeClr val="tx2"/>
                </a:solidFill>
              </a:rPr>
              <a:t>Tick a shift task, write a handover, open the ward</a:t>
            </a:r>
            <a:endParaRPr lang="en-US" sz="1400" dirty="0"/>
          </a:p>
        </p:txBody>
      </p:sp>
      <p:sp>
        <p:nvSpPr>
          <p:cNvPr id="15" name="step 4"/>
          <p:cNvSpPr/>
          <p:nvPr/>
        </p:nvSpPr>
        <p:spPr>
          <a:xfrm>
            <a:off x="548640" y="4242816"/>
            <a:ext cx="640080" cy="640080"/>
          </a:xfrm>
          <a:prstGeom prst="ellipse">
            <a:avLst/>
          </a:prstGeom>
          <a:solidFill>
            <a:schemeClr val="accent1"/>
          </a:solidFill>
          <a:ln w="12700">
            <a:solidFill>
              <a:schemeClr val="accent1"/>
            </a:solidFill>
            <a:prstDash val="solid"/>
          </a:ln>
        </p:spPr>
      </p:sp>
      <p:sp>
        <p:nvSpPr>
          <p:cNvPr id="16" name="Text 14"/>
          <p:cNvSpPr txBox="1"/>
          <p:nvPr/>
        </p:nvSpPr>
        <p:spPr>
          <a:xfrm>
            <a:off x="548640" y="4242816"/>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1417320" y="4224528"/>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Patient</a:t>
            </a:r>
            <a:endParaRPr lang="en-US" sz="1800" dirty="0"/>
          </a:p>
        </p:txBody>
      </p:sp>
      <p:sp>
        <p:nvSpPr>
          <p:cNvPr id="18" name="Text 16"/>
          <p:cNvSpPr txBox="1"/>
          <p:nvPr/>
        </p:nvSpPr>
        <p:spPr>
          <a:xfrm>
            <a:off x="1417320" y="4590288"/>
            <a:ext cx="5486400" cy="594360"/>
          </a:xfrm>
          <a:prstGeom prst="rect">
            <a:avLst/>
          </a:prstGeom>
          <a:noFill/>
          <a:ln/>
        </p:spPr>
        <p:txBody>
          <a:bodyPr wrap="square" lIns="0" tIns="0" rIns="0" bIns="0" rtlCol="0" anchor="t"/>
          <a:lstStyle/>
          <a:p>
            <a:pPr indent="0" marL="0">
              <a:buNone/>
            </a:pPr>
            <a:r>
              <a:rPr lang="en-US" sz="1400" dirty="0">
                <a:solidFill>
                  <a:schemeClr val="tx2"/>
                </a:solidFill>
              </a:rPr>
              <a:t>Help: “report kahan hai?” · Me › Accessibility: easy home</a:t>
            </a:r>
            <a:endParaRPr lang="en-US" sz="1400" dirty="0"/>
          </a:p>
        </p:txBody>
      </p:sp>
      <p:sp>
        <p:nvSpPr>
          <p:cNvPr id="19" name="step 5"/>
          <p:cNvSpPr/>
          <p:nvPr/>
        </p:nvSpPr>
        <p:spPr>
          <a:xfrm>
            <a:off x="548640" y="5230368"/>
            <a:ext cx="640080" cy="640080"/>
          </a:xfrm>
          <a:prstGeom prst="ellipse">
            <a:avLst/>
          </a:prstGeom>
          <a:solidFill>
            <a:schemeClr val="accent1"/>
          </a:solidFill>
          <a:ln w="12700">
            <a:solidFill>
              <a:schemeClr val="accent1"/>
            </a:solidFill>
            <a:prstDash val="solid"/>
          </a:ln>
        </p:spPr>
      </p:sp>
      <p:sp>
        <p:nvSpPr>
          <p:cNvPr id="20" name="Text 18"/>
          <p:cNvSpPr txBox="1"/>
          <p:nvPr/>
        </p:nvSpPr>
        <p:spPr>
          <a:xfrm>
            <a:off x="548640" y="5230368"/>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1" name="Text 19"/>
          <p:cNvSpPr txBox="1"/>
          <p:nvPr/>
        </p:nvSpPr>
        <p:spPr>
          <a:xfrm>
            <a:off x="1417320" y="521208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Research Lab</a:t>
            </a:r>
            <a:endParaRPr lang="en-US" sz="1800" dirty="0"/>
          </a:p>
        </p:txBody>
      </p:sp>
      <p:sp>
        <p:nvSpPr>
          <p:cNvPr id="22" name="Text 20"/>
          <p:cNvSpPr txBox="1"/>
          <p:nvPr/>
        </p:nvSpPr>
        <p:spPr>
          <a:xfrm>
            <a:off x="1417320" y="5577840"/>
            <a:ext cx="5486400" cy="594360"/>
          </a:xfrm>
          <a:prstGeom prst="rect">
            <a:avLst/>
          </a:prstGeom>
          <a:noFill/>
          <a:ln/>
        </p:spPr>
        <p:txBody>
          <a:bodyPr wrap="square" lIns="0" tIns="0" rIns="0" bIns="0" rtlCol="0" anchor="t"/>
          <a:lstStyle/>
          <a:p>
            <a:pPr indent="0" marL="0">
              <a:buNone/>
            </a:pPr>
            <a:r>
              <a:rPr lang="en-US" sz="1400" dirty="0">
                <a:solidFill>
                  <a:schemeClr val="tx2"/>
                </a:solidFill>
              </a:rPr>
              <a:t>Run the experiment, show the chart and table</a:t>
            </a:r>
            <a:endParaRPr lang="en-US" sz="1400" dirty="0"/>
          </a:p>
        </p:txBody>
      </p:sp>
      <p:pic>
        <p:nvPicPr>
          <p:cNvPr id="23" name="Demo complete screen" descr="/tmp/claude-0/-home-user/de3ee737-ae14-5b09-8745-a5aca720b665/scratchpad/pdf/login-hi.png">    </p:cNvPr>
          <p:cNvPicPr>
            <a:picLocks noChangeAspect="1"/>
          </p:cNvPicPr>
          <p:nvPr/>
        </p:nvPicPr>
        <p:blipFill>
          <a:blip r:embed="rId1"/>
          <a:srcRect l="0" r="0" t="0" b="0"/>
          <a:stretch/>
        </p:blipFill>
        <p:spPr>
          <a:xfrm>
            <a:off x="7223760" y="1280160"/>
            <a:ext cx="4434840" cy="2770632"/>
          </a:xfrm>
          <a:prstGeom prst="rect">
            <a:avLst/>
          </a:prstGeom>
        </p:spPr>
      </p:pic>
      <p:sp>
        <p:nvSpPr>
          <p:cNvPr id="24" name="Text 21"/>
          <p:cNvSpPr txBox="1"/>
          <p:nvPr/>
        </p:nvSpPr>
        <p:spPr>
          <a:xfrm>
            <a:off x="7223760" y="4160520"/>
            <a:ext cx="4434840" cy="640080"/>
          </a:xfrm>
          <a:prstGeom prst="rect">
            <a:avLst/>
          </a:prstGeom>
          <a:noFill/>
          <a:ln/>
        </p:spPr>
        <p:txBody>
          <a:bodyPr wrap="square" lIns="0" tIns="0" rIns="0" bIns="0" rtlCol="0" anchor="t"/>
          <a:lstStyle/>
          <a:p>
            <a:pPr indent="0" marL="0">
              <a:buNone/>
            </a:pPr>
            <a:r>
              <a:rPr lang="en-US" sz="1400" dirty="0">
                <a:solidFill>
                  <a:schemeClr val="tx2"/>
                </a:solidFill>
              </a:rPr>
              <a:t>The guided demo ends by asking you to log in as a patient, doctor or nurse.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Limitations and next steps</a:t>
            </a:r>
            <a:endParaRPr lang="en-US" sz="3600" dirty="0"/>
          </a:p>
        </p:txBody>
      </p:sp>
      <p:sp>
        <p:nvSpPr>
          <p:cNvPr id="3" name="card"/>
          <p:cNvSpPr/>
          <p:nvPr/>
        </p:nvSpPr>
        <p:spPr>
          <a:xfrm>
            <a:off x="548640" y="1280160"/>
            <a:ext cx="5440680" cy="4846320"/>
          </a:xfrm>
          <a:prstGeom prst="roundRect">
            <a:avLst>
              <a:gd name="adj" fmla="val 2264"/>
            </a:avLst>
          </a:prstGeom>
          <a:solidFill>
            <a:schemeClr val="bg2"/>
          </a:solidFill>
          <a:ln w="12700">
            <a:solidFill>
              <a:schemeClr val="bg2"/>
            </a:solidFill>
            <a:prstDash val="solid"/>
          </a:ln>
        </p:spPr>
      </p:sp>
      <p:sp>
        <p:nvSpPr>
          <p:cNvPr id="4" name="Text 2"/>
          <p:cNvSpPr txBox="1"/>
          <p:nvPr/>
        </p:nvSpPr>
        <p:spPr>
          <a:xfrm>
            <a:off x="822960" y="1463040"/>
            <a:ext cx="4937760" cy="457200"/>
          </a:xfrm>
          <a:prstGeom prst="rect">
            <a:avLst/>
          </a:prstGeom>
          <a:noFill/>
          <a:ln/>
        </p:spPr>
        <p:txBody>
          <a:bodyPr wrap="square" lIns="0" tIns="0" rIns="0" bIns="0" rtlCol="0" anchor="ctr"/>
          <a:lstStyle/>
          <a:p>
            <a:pPr indent="0" marL="0">
              <a:buNone/>
            </a:pPr>
            <a:r>
              <a:rPr lang="en-US" sz="2000" b="1" dirty="0">
                <a:solidFill>
                  <a:schemeClr val="accent1"/>
                </a:solidFill>
              </a:rPr>
              <a:t>Honest limitations</a:t>
            </a:r>
            <a:endParaRPr lang="en-US" sz="2000" dirty="0"/>
          </a:p>
        </p:txBody>
      </p:sp>
      <p:sp>
        <p:nvSpPr>
          <p:cNvPr id="5" name="Text 3"/>
          <p:cNvSpPr txBox="1"/>
          <p:nvPr/>
        </p:nvSpPr>
        <p:spPr>
          <a:xfrm>
            <a:off x="822960" y="2057400"/>
            <a:ext cx="4937760" cy="38404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Results come from a simulation with assumed event rates, not real patients.</a:t>
            </a:r>
            <a:endParaRPr lang="en-US" sz="1600" dirty="0"/>
          </a:p>
          <a:p>
            <a:pPr marL="342900" indent="-342900">
              <a:spcAft>
                <a:spcPts val="1000"/>
              </a:spcAft>
              <a:buSzPct val="100000"/>
              <a:buChar char="•"/>
            </a:pPr>
            <a:r>
              <a:rPr lang="en-US" sz="1600" dirty="0">
                <a:solidFill>
                  <a:schemeClr val="tx1"/>
                </a:solidFill>
              </a:rPr>
              <a:t>The band in the demo is simulated.</a:t>
            </a:r>
            <a:endParaRPr lang="en-US" sz="1600" dirty="0"/>
          </a:p>
          <a:p>
            <a:pPr marL="342900" indent="-342900">
              <a:spcAft>
                <a:spcPts val="1000"/>
              </a:spcAft>
              <a:buSzPct val="100000"/>
              <a:buChar char="•"/>
            </a:pPr>
            <a:r>
              <a:rPr lang="en-US" sz="1600" dirty="0">
                <a:solidFill>
                  <a:schemeClr val="tx1"/>
                </a:solidFill>
              </a:rPr>
              <a:t>The decision tree is hand-built, not trained on data.</a:t>
            </a:r>
            <a:endParaRPr lang="en-US" sz="1600" dirty="0"/>
          </a:p>
          <a:p>
            <a:pPr marL="342900" indent="-342900">
              <a:spcAft>
                <a:spcPts val="1000"/>
              </a:spcAft>
              <a:buSzPct val="100000"/>
              <a:buChar char="•"/>
            </a:pPr>
            <a:r>
              <a:rPr lang="en-US" sz="1600" dirty="0">
                <a:solidFill>
                  <a:schemeClr val="tx1"/>
                </a:solidFill>
              </a:rPr>
              <a:t>Hindi and accessibility need a user study with older and disabled people.</a:t>
            </a:r>
            <a:endParaRPr lang="en-US" sz="1600" dirty="0"/>
          </a:p>
        </p:txBody>
      </p:sp>
      <p:sp>
        <p:nvSpPr>
          <p:cNvPr id="6" name="icon circle"/>
          <p:cNvSpPr/>
          <p:nvPr/>
        </p:nvSpPr>
        <p:spPr>
          <a:xfrm>
            <a:off x="6355080" y="1371600"/>
            <a:ext cx="685800" cy="685800"/>
          </a:xfrm>
          <a:prstGeom prst="ellipse">
            <a:avLst/>
          </a:prstGeom>
          <a:solidFill>
            <a:schemeClr val="accent3"/>
          </a:solidFill>
          <a:ln w="12700">
            <a:solidFill>
              <a:schemeClr val="accent3"/>
            </a:solidFill>
            <a:prstDash val="solid"/>
          </a:ln>
        </p:spPr>
      </p:sp>
      <p:pic>
        <p:nvPicPr>
          <p:cNvPr id="7" name="icon" descr="preencoded.png">    </p:cNvPr>
          <p:cNvPicPr>
            <a:picLocks noChangeAspect="1"/>
          </p:cNvPicPr>
          <p:nvPr/>
        </p:nvPicPr>
        <p:blipFill>
          <a:blip r:embed="rId1"/>
          <a:stretch>
            <a:fillRect/>
          </a:stretch>
        </p:blipFill>
        <p:spPr>
          <a:xfrm>
            <a:off x="6526530" y="1543050"/>
            <a:ext cx="342900" cy="342900"/>
          </a:xfrm>
          <a:prstGeom prst="rect">
            <a:avLst/>
          </a:prstGeom>
        </p:spPr>
      </p:pic>
      <p:sp>
        <p:nvSpPr>
          <p:cNvPr id="8" name="Text 5"/>
          <p:cNvSpPr txBox="1"/>
          <p:nvPr/>
        </p:nvSpPr>
        <p:spPr>
          <a:xfrm>
            <a:off x="7223760" y="1371600"/>
            <a:ext cx="4389120" cy="411480"/>
          </a:xfrm>
          <a:prstGeom prst="rect">
            <a:avLst/>
          </a:prstGeom>
          <a:noFill/>
          <a:ln/>
        </p:spPr>
        <p:txBody>
          <a:bodyPr wrap="square" lIns="0" tIns="0" rIns="0" bIns="0" rtlCol="0" anchor="ctr"/>
          <a:lstStyle/>
          <a:p>
            <a:pPr indent="0" marL="0">
              <a:buNone/>
            </a:pPr>
            <a:r>
              <a:rPr lang="en-US" sz="1800" b="1" dirty="0">
                <a:solidFill>
                  <a:schemeClr val="tx1"/>
                </a:solidFill>
              </a:rPr>
              <a:t>Real wrist band</a:t>
            </a:r>
            <a:endParaRPr lang="en-US" sz="1800" dirty="0"/>
          </a:p>
        </p:txBody>
      </p:sp>
      <p:sp>
        <p:nvSpPr>
          <p:cNvPr id="9" name="Text 6"/>
          <p:cNvSpPr txBox="1"/>
          <p:nvPr/>
        </p:nvSpPr>
        <p:spPr>
          <a:xfrm>
            <a:off x="7223760" y="1783080"/>
            <a:ext cx="4389120" cy="457200"/>
          </a:xfrm>
          <a:prstGeom prst="rect">
            <a:avLst/>
          </a:prstGeom>
          <a:noFill/>
          <a:ln/>
        </p:spPr>
        <p:txBody>
          <a:bodyPr wrap="square" lIns="0" tIns="0" rIns="0" bIns="0" rtlCol="0" anchor="ctr"/>
          <a:lstStyle/>
          <a:p>
            <a:pPr indent="0" marL="0">
              <a:buNone/>
            </a:pPr>
            <a:r>
              <a:rPr lang="en-US" sz="1400" dirty="0">
                <a:solidFill>
                  <a:schemeClr val="tx2"/>
                </a:solidFill>
              </a:rPr>
              <a:t>ESP32 sensors or Apple Watch (HealthKit)</a:t>
            </a:r>
            <a:endParaRPr lang="en-US" sz="1400" dirty="0"/>
          </a:p>
        </p:txBody>
      </p:sp>
      <p:sp>
        <p:nvSpPr>
          <p:cNvPr id="10" name="icon circle"/>
          <p:cNvSpPr/>
          <p:nvPr/>
        </p:nvSpPr>
        <p:spPr>
          <a:xfrm>
            <a:off x="6355080" y="2560320"/>
            <a:ext cx="685800" cy="685800"/>
          </a:xfrm>
          <a:prstGeom prst="ellipse">
            <a:avLst/>
          </a:prstGeom>
          <a:solidFill>
            <a:schemeClr val="accent3"/>
          </a:solidFill>
          <a:ln w="12700">
            <a:solidFill>
              <a:schemeClr val="accent3"/>
            </a:solidFill>
            <a:prstDash val="solid"/>
          </a:ln>
        </p:spPr>
      </p:sp>
      <p:pic>
        <p:nvPicPr>
          <p:cNvPr id="11" name="icon" descr="preencoded.png">    </p:cNvPr>
          <p:cNvPicPr>
            <a:picLocks noChangeAspect="1"/>
          </p:cNvPicPr>
          <p:nvPr/>
        </p:nvPicPr>
        <p:blipFill>
          <a:blip r:embed="rId2"/>
          <a:stretch>
            <a:fillRect/>
          </a:stretch>
        </p:blipFill>
        <p:spPr>
          <a:xfrm>
            <a:off x="6526530" y="2731770"/>
            <a:ext cx="342900" cy="342900"/>
          </a:xfrm>
          <a:prstGeom prst="rect">
            <a:avLst/>
          </a:prstGeom>
        </p:spPr>
      </p:pic>
      <p:sp>
        <p:nvSpPr>
          <p:cNvPr id="12" name="Text 8"/>
          <p:cNvSpPr txBox="1"/>
          <p:nvPr/>
        </p:nvSpPr>
        <p:spPr>
          <a:xfrm>
            <a:off x="7223760" y="2560320"/>
            <a:ext cx="4389120" cy="411480"/>
          </a:xfrm>
          <a:prstGeom prst="rect">
            <a:avLst/>
          </a:prstGeom>
          <a:noFill/>
          <a:ln/>
        </p:spPr>
        <p:txBody>
          <a:bodyPr wrap="square" lIns="0" tIns="0" rIns="0" bIns="0" rtlCol="0" anchor="ctr"/>
          <a:lstStyle/>
          <a:p>
            <a:pPr indent="0" marL="0">
              <a:buNone/>
            </a:pPr>
            <a:r>
              <a:rPr lang="en-US" sz="1800" b="1" dirty="0">
                <a:solidFill>
                  <a:schemeClr val="tx1"/>
                </a:solidFill>
              </a:rPr>
              <a:t>Real data</a:t>
            </a:r>
            <a:endParaRPr lang="en-US" sz="1800" dirty="0"/>
          </a:p>
        </p:txBody>
      </p:sp>
      <p:sp>
        <p:nvSpPr>
          <p:cNvPr id="13" name="Text 9"/>
          <p:cNvSpPr txBox="1"/>
          <p:nvPr/>
        </p:nvSpPr>
        <p:spPr>
          <a:xfrm>
            <a:off x="7223760" y="2971800"/>
            <a:ext cx="4389120" cy="457200"/>
          </a:xfrm>
          <a:prstGeom prst="rect">
            <a:avLst/>
          </a:prstGeom>
          <a:noFill/>
          <a:ln/>
        </p:spPr>
        <p:txBody>
          <a:bodyPr wrap="square" lIns="0" tIns="0" rIns="0" bIns="0" rtlCol="0" anchor="ctr"/>
          <a:lstStyle/>
          <a:p>
            <a:pPr indent="0" marL="0">
              <a:buNone/>
            </a:pPr>
            <a:r>
              <a:rPr lang="en-US" sz="1400" dirty="0">
                <a:solidFill>
                  <a:schemeClr val="tx2"/>
                </a:solidFill>
              </a:rPr>
              <a:t>Replay PhysioNet / MIMIC recordings</a:t>
            </a:r>
            <a:endParaRPr lang="en-US" sz="1400" dirty="0"/>
          </a:p>
        </p:txBody>
      </p:sp>
      <p:sp>
        <p:nvSpPr>
          <p:cNvPr id="14" name="icon circle"/>
          <p:cNvSpPr/>
          <p:nvPr/>
        </p:nvSpPr>
        <p:spPr>
          <a:xfrm>
            <a:off x="6355080" y="3749040"/>
            <a:ext cx="685800" cy="685800"/>
          </a:xfrm>
          <a:prstGeom prst="ellipse">
            <a:avLst/>
          </a:prstGeom>
          <a:solidFill>
            <a:schemeClr val="accent3"/>
          </a:solidFill>
          <a:ln w="12700">
            <a:solidFill>
              <a:schemeClr val="accent3"/>
            </a:solidFill>
            <a:prstDash val="solid"/>
          </a:ln>
        </p:spPr>
      </p:sp>
      <p:pic>
        <p:nvPicPr>
          <p:cNvPr id="15" name="icon" descr="preencoded.png">    </p:cNvPr>
          <p:cNvPicPr>
            <a:picLocks noChangeAspect="1"/>
          </p:cNvPicPr>
          <p:nvPr/>
        </p:nvPicPr>
        <p:blipFill>
          <a:blip r:embed="rId3"/>
          <a:stretch>
            <a:fillRect/>
          </a:stretch>
        </p:blipFill>
        <p:spPr>
          <a:xfrm>
            <a:off x="6526530" y="3920490"/>
            <a:ext cx="342900" cy="342900"/>
          </a:xfrm>
          <a:prstGeom prst="rect">
            <a:avLst/>
          </a:prstGeom>
        </p:spPr>
      </p:pic>
      <p:sp>
        <p:nvSpPr>
          <p:cNvPr id="16" name="Text 11"/>
          <p:cNvSpPr txBox="1"/>
          <p:nvPr/>
        </p:nvSpPr>
        <p:spPr>
          <a:xfrm>
            <a:off x="7223760" y="3749040"/>
            <a:ext cx="4389120" cy="411480"/>
          </a:xfrm>
          <a:prstGeom prst="rect">
            <a:avLst/>
          </a:prstGeom>
          <a:noFill/>
          <a:ln/>
        </p:spPr>
        <p:txBody>
          <a:bodyPr wrap="square" lIns="0" tIns="0" rIns="0" bIns="0" rtlCol="0" anchor="ctr"/>
          <a:lstStyle/>
          <a:p>
            <a:pPr indent="0" marL="0">
              <a:buNone/>
            </a:pPr>
            <a:r>
              <a:rPr lang="en-US" sz="1800" b="1" dirty="0">
                <a:solidFill>
                  <a:schemeClr val="tx1"/>
                </a:solidFill>
              </a:rPr>
              <a:t>Volunteer study</a:t>
            </a:r>
            <a:endParaRPr lang="en-US" sz="1800" dirty="0"/>
          </a:p>
        </p:txBody>
      </p:sp>
      <p:sp>
        <p:nvSpPr>
          <p:cNvPr id="17" name="Text 12"/>
          <p:cNvSpPr txBox="1"/>
          <p:nvPr/>
        </p:nvSpPr>
        <p:spPr>
          <a:xfrm>
            <a:off x="7223760" y="4160520"/>
            <a:ext cx="4389120" cy="457200"/>
          </a:xfrm>
          <a:prstGeom prst="rect">
            <a:avLst/>
          </a:prstGeom>
          <a:noFill/>
          <a:ln/>
        </p:spPr>
        <p:txBody>
          <a:bodyPr wrap="square" lIns="0" tIns="0" rIns="0" bIns="0" rtlCol="0" anchor="ctr"/>
          <a:lstStyle/>
          <a:p>
            <a:pPr indent="0" marL="0">
              <a:buNone/>
            </a:pPr>
            <a:r>
              <a:rPr lang="en-US" sz="1400" dirty="0">
                <a:solidFill>
                  <a:schemeClr val="tx2"/>
                </a:solidFill>
              </a:rPr>
              <a:t>5–10 people for a week, before vs after</a:t>
            </a:r>
            <a:endParaRPr lang="en-US" sz="1400" dirty="0"/>
          </a:p>
        </p:txBody>
      </p:sp>
      <p:sp>
        <p:nvSpPr>
          <p:cNvPr id="18" name="icon circle"/>
          <p:cNvSpPr/>
          <p:nvPr/>
        </p:nvSpPr>
        <p:spPr>
          <a:xfrm>
            <a:off x="6355080" y="4937760"/>
            <a:ext cx="685800" cy="685800"/>
          </a:xfrm>
          <a:prstGeom prst="ellipse">
            <a:avLst/>
          </a:prstGeom>
          <a:solidFill>
            <a:schemeClr val="accent3"/>
          </a:solidFill>
          <a:ln w="12700">
            <a:solidFill>
              <a:schemeClr val="accent3"/>
            </a:solidFill>
            <a:prstDash val="solid"/>
          </a:ln>
        </p:spPr>
      </p:sp>
      <p:pic>
        <p:nvPicPr>
          <p:cNvPr id="19" name="icon" descr="preencoded.png">    </p:cNvPr>
          <p:cNvPicPr>
            <a:picLocks noChangeAspect="1"/>
          </p:cNvPicPr>
          <p:nvPr/>
        </p:nvPicPr>
        <p:blipFill>
          <a:blip r:embed="rId4"/>
          <a:stretch>
            <a:fillRect/>
          </a:stretch>
        </p:blipFill>
        <p:spPr>
          <a:xfrm>
            <a:off x="6526530" y="5109210"/>
            <a:ext cx="342900" cy="342900"/>
          </a:xfrm>
          <a:prstGeom prst="rect">
            <a:avLst/>
          </a:prstGeom>
        </p:spPr>
      </p:pic>
      <p:sp>
        <p:nvSpPr>
          <p:cNvPr id="20" name="Text 14"/>
          <p:cNvSpPr txBox="1"/>
          <p:nvPr/>
        </p:nvSpPr>
        <p:spPr>
          <a:xfrm>
            <a:off x="7223760" y="4937760"/>
            <a:ext cx="4389120" cy="411480"/>
          </a:xfrm>
          <a:prstGeom prst="rect">
            <a:avLst/>
          </a:prstGeom>
          <a:noFill/>
          <a:ln/>
        </p:spPr>
        <p:txBody>
          <a:bodyPr wrap="square" lIns="0" tIns="0" rIns="0" bIns="0" rtlCol="0" anchor="ctr"/>
          <a:lstStyle/>
          <a:p>
            <a:pPr indent="0" marL="0">
              <a:buNone/>
            </a:pPr>
            <a:r>
              <a:rPr lang="en-US" sz="1800" b="1" dirty="0">
                <a:solidFill>
                  <a:schemeClr val="tx1"/>
                </a:solidFill>
              </a:rPr>
              <a:t>Shared backend</a:t>
            </a:r>
            <a:endParaRPr lang="en-US" sz="1800" dirty="0"/>
          </a:p>
        </p:txBody>
      </p:sp>
      <p:sp>
        <p:nvSpPr>
          <p:cNvPr id="21" name="Text 15"/>
          <p:cNvSpPr txBox="1"/>
          <p:nvPr/>
        </p:nvSpPr>
        <p:spPr>
          <a:xfrm>
            <a:off x="7223760" y="5349240"/>
            <a:ext cx="4389120" cy="457200"/>
          </a:xfrm>
          <a:prstGeom prst="rect">
            <a:avLst/>
          </a:prstGeom>
          <a:noFill/>
          <a:ln/>
        </p:spPr>
        <p:txBody>
          <a:bodyPr wrap="square" lIns="0" tIns="0" rIns="0" bIns="0" rtlCol="0" anchor="ctr"/>
          <a:lstStyle/>
          <a:p>
            <a:pPr indent="0" marL="0">
              <a:buNone/>
            </a:pPr>
            <a:r>
              <a:rPr lang="en-US" sz="1400" dirty="0">
                <a:solidFill>
                  <a:schemeClr val="tx2"/>
                </a:solidFill>
              </a:rPr>
              <a:t>Supabase so patients and doctors use different devices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icon circle"/>
          <p:cNvSpPr/>
          <p:nvPr/>
        </p:nvSpPr>
        <p:spPr>
          <a:xfrm>
            <a:off x="731520" y="822960"/>
            <a:ext cx="868680" cy="868680"/>
          </a:xfrm>
          <a:prstGeom prst="ellipse">
            <a:avLst/>
          </a:prstGeom>
          <a:solidFill>
            <a:schemeClr val="accent1"/>
          </a:solidFill>
          <a:ln w="12700">
            <a:solidFill>
              <a:schemeClr val="accent1"/>
            </a:solidFill>
            <a:prstDash val="solid"/>
          </a:ln>
        </p:spPr>
      </p:sp>
      <p:pic>
        <p:nvPicPr>
          <p:cNvPr id="3" name="icon" descr="preencoded.png">    </p:cNvPr>
          <p:cNvPicPr>
            <a:picLocks noChangeAspect="1"/>
          </p:cNvPicPr>
          <p:nvPr/>
        </p:nvPicPr>
        <p:blipFill>
          <a:blip r:embed="rId1"/>
          <a:stretch>
            <a:fillRect/>
          </a:stretch>
        </p:blipFill>
        <p:spPr>
          <a:xfrm>
            <a:off x="948690" y="1040130"/>
            <a:ext cx="434340" cy="434340"/>
          </a:xfrm>
          <a:prstGeom prst="rect">
            <a:avLst/>
          </a:prstGeom>
        </p:spPr>
      </p:pic>
      <p:sp>
        <p:nvSpPr>
          <p:cNvPr id="4" name="Text 0"/>
          <p:cNvSpPr/>
          <p:nvPr>
            <p:ph idx="100" type="title" hasCustomPrompt="1"/>
          </p:nvPr>
        </p:nvSpPr>
        <p:spPr>
          <a:xfrm>
            <a:off x="731520" y="2011680"/>
            <a:ext cx="10698480" cy="1737360"/>
          </a:xfrm>
          <a:prstGeom prst="rect">
            <a:avLst/>
          </a:prstGeom>
          <a:noFill/>
          <a:ln/>
        </p:spPr>
        <p:txBody>
          <a:bodyPr wrap="square" rtlCol="0" anchor="t"/>
          <a:lstStyle/>
          <a:p>
            <a:pPr indent="0" marL="0">
              <a:buNone/>
            </a:pPr>
            <a:r>
              <a:rPr lang="en-US" sz="4800" b="1" dirty="0">
                <a:solidFill>
                  <a:schemeClr val="bg1"/>
                </a:solidFill>
              </a:rPr>
              <a:t>Alerts people can trust again</a:t>
            </a:r>
            <a:endParaRPr lang="en-US" sz="4800" dirty="0"/>
          </a:p>
        </p:txBody>
      </p:sp>
      <p:sp>
        <p:nvSpPr>
          <p:cNvPr id="5" name="Text 0"/>
          <p:cNvSpPr/>
          <p:nvPr>
            <p:ph idx="101" type="body" hasCustomPrompt="1"/>
          </p:nvPr>
        </p:nvSpPr>
        <p:spPr>
          <a:xfrm>
            <a:off x="731520" y="3794760"/>
            <a:ext cx="9601200" cy="1097280"/>
          </a:xfrm>
          <a:prstGeom prst="rect">
            <a:avLst/>
          </a:prstGeom>
          <a:noFill/>
          <a:ln/>
        </p:spPr>
        <p:txBody>
          <a:bodyPr wrap="square" rtlCol="0" anchor="t"/>
          <a:lstStyle/>
          <a:p>
            <a:pPr indent="0" marL="0">
              <a:buNone/>
            </a:pPr>
            <a:r>
              <a:rPr lang="en-US" sz="2000" dirty="0">
                <a:solidFill>
                  <a:schemeClr val="bg2"/>
                </a:solidFill>
              </a:rPr>
              <a:t>PulseOS learns each patient, explains every alert and never ignores danger. In simulation: ~97% fewer false alarms and every real event caught.</a:t>
            </a:r>
            <a:endParaRPr lang="en-US" sz="2000" dirty="0"/>
          </a:p>
        </p:txBody>
      </p:sp>
      <p:sp>
        <p:nvSpPr>
          <p:cNvPr id="6" name="Text 3"/>
          <p:cNvSpPr txBox="1"/>
          <p:nvPr/>
        </p:nvSpPr>
        <p:spPr>
          <a:xfrm>
            <a:off x="731520" y="4983480"/>
            <a:ext cx="10698480" cy="822960"/>
          </a:xfrm>
          <a:prstGeom prst="rect">
            <a:avLst/>
          </a:prstGeom>
          <a:noFill/>
          <a:ln/>
        </p:spPr>
        <p:txBody>
          <a:bodyPr wrap="square" lIns="0" tIns="0" rIns="0" bIns="0" rtlCol="0" anchor="ctr"/>
          <a:lstStyle/>
          <a:p>
            <a:pPr indent="0" marL="0">
              <a:buNone/>
            </a:pPr>
            <a:r>
              <a:rPr lang="en-US" sz="1600" b="1" dirty="0">
                <a:solidFill>
                  <a:schemeClr val="accent1"/>
                </a:solidFill>
              </a:rPr>
              <a:t>Try it: </a:t>
            </a:r>
            <a:pPr indent="0" marL="0">
              <a:buNone/>
            </a:pPr>
            <a:r>
              <a:rPr lang="en-US" sz="1600" dirty="0">
                <a:solidFill>
                  <a:schemeClr val="bg1"/>
                </a:solidFill>
              </a:rPr>
              <a:t>the PulseOS website · demo logins doctor@pulseos.app / doctor123</a:t>
            </a:r>
            <a:endParaRPr lang="en-US" sz="1600" dirty="0"/>
          </a:p>
          <a:p>
            <a:pPr indent="0" marL="0">
              <a:buNone/>
            </a:pPr>
            <a:r>
              <a:rPr lang="en-US" sz="1600" b="1" dirty="0">
                <a:solidFill>
                  <a:schemeClr val="accent1"/>
                </a:solidFill>
              </a:rPr>
              <a:t>Code: </a:t>
            </a:r>
            <a:pPr indent="0" marL="0">
              <a:buNone/>
            </a:pPr>
            <a:r>
              <a:rPr lang="en-US" sz="1600" dirty="0">
                <a:solidFill>
                  <a:schemeClr val="bg1"/>
                </a:solidFill>
              </a:rPr>
              <a:t>github.com/NANDINISHARMA04/bt-39</a:t>
            </a:r>
            <a:endParaRPr lang="en-US" sz="1600" dirty="0"/>
          </a:p>
        </p:txBody>
      </p:sp>
      <p:sp>
        <p:nvSpPr>
          <p:cNvPr id="7" name="Text 4"/>
          <p:cNvSpPr txBox="1"/>
          <p:nvPr/>
        </p:nvSpPr>
        <p:spPr>
          <a:xfrm>
            <a:off x="731520" y="5897880"/>
            <a:ext cx="10698480" cy="457200"/>
          </a:xfrm>
          <a:prstGeom prst="rect">
            <a:avLst/>
          </a:prstGeom>
          <a:noFill/>
          <a:ln/>
        </p:spPr>
        <p:txBody>
          <a:bodyPr wrap="square" lIns="0" tIns="0" rIns="0" bIns="0" rtlCol="0" anchor="ctr"/>
          <a:lstStyle/>
          <a:p>
            <a:pPr indent="0" marL="0">
              <a:buNone/>
            </a:pPr>
            <a:r>
              <a:rPr lang="en-US" sz="2200" b="1" dirty="0">
                <a:solidFill>
                  <a:schemeClr val="bg1"/>
                </a:solidFill>
              </a:rPr>
              <a:t>Thank you · Questions?</a:t>
            </a:r>
            <a:endParaRPr lang="en-US" sz="2200" dirty="0"/>
          </a:p>
        </p:txBody>
      </p:sp>
    </p:spTree>
  </p:cSld>
  <p:clrMapOvr>
    <a:masterClrMapping/>
  </p:clrMapOvr>
</p:sld>
</file>

<file path=ppt/theme/theme1.xml><?xml version="1.0" encoding="utf-8"?>
<a:theme xmlns:a="http://schemas.openxmlformats.org/drawingml/2006/main" name="PulseOS">
  <a:themeElements>
    <a:clrScheme name="PulseOS">
      <a:dk1>
        <a:srgbClr val="1B1F3B"/>
      </a:dk1>
      <a:lt1>
        <a:srgbClr val="FFFFFF"/>
      </a:lt1>
      <a:dk2>
        <a:srgbClr val="4A4F6A"/>
      </a:dk2>
      <a:lt2>
        <a:srgbClr val="F2F3F8"/>
      </a:lt2>
      <a:accent1>
        <a:srgbClr val="FF2D55"/>
      </a:accent1>
      <a:accent2>
        <a:srgbClr val="6B4CE6"/>
      </a:accent2>
      <a:accent3>
        <a:srgbClr val="1F9D55"/>
      </a:accent3>
      <a:accent4>
        <a:srgbClr val="F28C00"/>
      </a:accent4>
      <a:accent5>
        <a:srgbClr val="0A84FF"/>
      </a:accent5>
      <a:accent6>
        <a:srgbClr val="1FA7BF"/>
      </a:accent6>
      <a:hlink>
        <a:srgbClr val="0A84FF"/>
      </a:hlink>
      <a:folHlink>
        <a:srgbClr val="6B4CE6"/>
      </a:folHlink>
    </a:clrScheme>
    <a:fontScheme name="PulseO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PulseOS: Smart Health Monitoring System</dc:title>
  <dc:subject>PptxGenJS Presentation</dc:subject>
  <dc:creator>PulseOS team</dc:creator>
  <cp:lastModifiedBy>PulseOS team</cp:lastModifiedBy>
  <cp:revision>1</cp:revision>
  <dcterms:created xsi:type="dcterms:W3CDTF">2026-10-12T18:14:48Z</dcterms:created>
  <dcterms:modified xsi:type="dcterms:W3CDTF">2026-10-12T18:14:48Z</dcterms:modified>
</cp:coreProperties>
</file>